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MiniSwiggy is my mini project for Distributed Computing. Part one studies how Swiggy is built, using Swiggy's own engineering blog. Part two is a small Java version using only TCP sockets, which demonstrates load balancing, replication, failure detection with failover, publish/subscribe, and ordered messages. The drawing shows the idea: customer, restaurant and delivery clients, one gateway, and two replicated order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Swiggy is a good distributed-systems example because three groups act on the same order at the same time, and traffic has sharp peaks. Swiggy's engineers report over 400 microservices, more than 130 of them in the order path, traffic tripling at lunch time, and more than 10,000 containers. These numbers come from Swiggy's own blog and an official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summary diagram built from Swiggy's published posts. Apps connect through an edge layer of AWS load balancers, and for the web front-end Kong and HAProxy. Behind it run hundreds of microservices on Kubernetes. Kafka carries events between them. Each service picks a suitable data store: MySQL, DynamoDB, Redis, Aerospike, Tile38 for geo data. Change data capture copies data into a data lake for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goes through browse, cart and checkout, payment, and creation. Checkout is orchestrated: one service calls the others step by step. Once the order exists, the Order Data Service publishes a Kafka event, and the delivery, vendor and CRM services consume it independently. That is choreography. Delivery then runs an optimisation to assign a partner, per logistic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paradigms each have direct evidence in Swiggy's posts. Client-server between apps and backend, microservices, publish-subscribe with Kafka, point-to-point queues with SQS and RabbitMQ, both orchestration and choreography, and stream processing with change data capture. I also checked peer-to-peer, but found no evidence; Swiggy is a central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algorithms, I separated what is proven from what is guessed. Caching, partitioning, replication, timeouts and circuit breakers, and geohash-based partitioned assignment all have direct evidence. Load balancing is documented, but not the algorithm. Leader election appears only as Kafka partition leaders. Heartbeat failure detection is only implied. Consistent hashing, gossip and logical clocks were not found, so I do not claim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MiniSwiggy keeps the three roles and the full order life cycle, but drops payments, maps and persistence. There is one gateway, which is the only entry point, and two order nodes that replicate each other. Everything is plain Java 17 sockets and threads with no libraries: 20 source files, about 2,700 lines, plus a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is one line of text per message, with URL-encoded values, so it can be read in logs and typed by hand. This is a real session with a plain TCP client. Notice the EVENT arriving before the OK of the same request: the client tells them apart because only replies carry the request id. Illegal steps get a clear error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for at least two distributed concepts; MiniSwiggy runs five. Reads are load-balanced round-robin. Writes are replicated to the backup before they are acknowledged. The gateway detects failures with heartbeats and promotes the backup, using epoch numbers so an old primary cannot overwrite data. Order updates are pushed with publish-subscribe, and clients put them back in order using sequence numbers. Supporting ideas are fencing, re-sync after restart, and safe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demo. The demo runner kills N1's process in the middle of orders. The gateway misses three heartbeats, marks N1 down and promotes N2 in epoch 2. Writes that arrive in between are held and then delivered to N2, so a customer only sees a delay of about three seconds. N2 keeps working without a replica until N1 is restarted; N1 then pulls all orders from N2 and rejoins as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the tests and the demo repeatedly. All 14 automated tests pass, and the demo's 10 automatic checks pass, including identical checksums on both replicas after the crash. Testing also found two real bugs, which I fixed: a hidden byte-order mark in piped input, and retry keys that could clash between two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Swiggy scales by splitting work into services, partitions and zones, and stays reliable through redundancy and isolation. MiniSwiggy shows the core of that on a small scale: with replication before acknowledgement, a crash costs a few seconds instead of data. Its limits are clear: the gateway is a single point of failure, data is only in memory, and there is only one backup. The next steps would be a replicated gateway using Raft, a write-ahead log, and three replicas with quorum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3"/>
        </a:solidFill>
      </p:bgPr>
    </p:bg>
    <p:spTree>
      <p:nvGrpSpPr>
        <p:cNvPr id="1" name=""/>
        <p:cNvGrpSpPr/>
        <p:nvPr/>
      </p:nvGrpSpPr>
      <p:grpSpPr>
        <a:xfrm>
          <a:off x="0" y="0"/>
          <a:ext cx="0" cy="0"/>
          <a:chOff x="0" y="0"/>
          <a:chExt cx="0" cy="0"/>
        </a:xfrm>
      </p:grpSpPr>
      <p:sp>
        <p:nvSpPr>
          <p:cNvPr id="2" name="Text 0"/>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200" b="1" spc="200" kern="0" dirty="0">
                <a:solidFill>
                  <a:srgbClr val="E86A10"/>
                </a:solidFill>
                <a:latin typeface="Calibri" pitchFamily="34" charset="0"/>
                <a:ea typeface="Calibri" pitchFamily="34" charset="-122"/>
                <a:cs typeface="Calibri" pitchFamily="34" charset="-120"/>
              </a:rPr>
              <a:t>DISTRIBUTED COMPUTING MINI PROJECT  |  23MCCE11</a:t>
            </a:r>
            <a:endParaRPr lang="en-US" sz="1200" dirty="0"/>
          </a:p>
        </p:txBody>
      </p:sp>
      <p:sp>
        <p:nvSpPr>
          <p:cNvPr id="3" name="Text 1"/>
          <p:cNvSpPr txBox="1"/>
          <p:nvPr/>
        </p:nvSpPr>
        <p:spPr>
          <a:xfrm>
            <a:off x="548640" y="1143000"/>
            <a:ext cx="512064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MiniSwiggy</a:t>
            </a:r>
            <a:endParaRPr lang="en-US" sz="4800" dirty="0"/>
          </a:p>
        </p:txBody>
      </p:sp>
      <p:sp>
        <p:nvSpPr>
          <p:cNvPr id="4" name="Text 2"/>
          <p:cNvSpPr txBox="1"/>
          <p:nvPr/>
        </p:nvSpPr>
        <p:spPr>
          <a:xfrm>
            <a:off x="548640" y="2057400"/>
            <a:ext cx="4937760" cy="822960"/>
          </a:xfrm>
          <a:prstGeom prst="rect">
            <a:avLst/>
          </a:prstGeom>
          <a:noFill/>
          <a:ln/>
        </p:spPr>
        <p:txBody>
          <a:bodyPr wrap="square" lIns="0" tIns="0" rIns="0" bIns="0" rtlCol="0" anchor="ctr"/>
          <a:lstStyle/>
          <a:p>
            <a:pPr indent="0" marL="0">
              <a:buNone/>
            </a:pPr>
            <a:r>
              <a:rPr lang="en-US" sz="1800" dirty="0">
                <a:solidFill>
                  <a:srgbClr val="C9D1DC"/>
                </a:solidFill>
                <a:latin typeface="Calibri" pitchFamily="34" charset="0"/>
                <a:ea typeface="Calibri" pitchFamily="34" charset="-122"/>
                <a:cs typeface="Calibri" pitchFamily="34" charset="-120"/>
              </a:rPr>
              <a:t>How Swiggy delivers food at scale, and a socket-level Java model of its key distributed ideas</a:t>
            </a:r>
            <a:endParaRPr lang="en-US" sz="1800" dirty="0"/>
          </a:p>
        </p:txBody>
      </p:sp>
      <p:sp>
        <p:nvSpPr>
          <p:cNvPr id="5" name="Text 3"/>
          <p:cNvSpPr txBox="1"/>
          <p:nvPr/>
        </p:nvSpPr>
        <p:spPr>
          <a:xfrm>
            <a:off x="548640" y="3840480"/>
            <a:ext cx="4572000" cy="640080"/>
          </a:xfrm>
          <a:prstGeom prst="rect">
            <a:avLst/>
          </a:prstGeom>
          <a:noFill/>
          <a:ln/>
        </p:spPr>
        <p:txBody>
          <a:bodyPr wrap="square" lIns="0" tIns="0" rIns="0" bIns="0" rtlCol="0" anchor="ctr"/>
          <a:lstStyle/>
          <a:p>
            <a:pPr indent="0" marL="0">
              <a:buNone/>
            </a:pPr>
            <a:r>
              <a:rPr lang="en-US" sz="1300" dirty="0">
                <a:solidFill>
                  <a:srgbClr val="9AA5B4"/>
                </a:solidFill>
                <a:latin typeface="Calibri" pitchFamily="34" charset="0"/>
                <a:ea typeface="Calibri" pitchFamily="34" charset="-122"/>
                <a:cs typeface="Calibri" pitchFamily="34" charset="-120"/>
              </a:rPr>
              <a:t>Registration number: 23MCCE11</a:t>
            </a:r>
            <a:endParaRPr lang="en-US" sz="1300" dirty="0"/>
          </a:p>
          <a:p>
            <a:pPr indent="0" marL="0">
              <a:buNone/>
            </a:pPr>
            <a:r>
              <a:rPr lang="en-US" sz="1300" dirty="0">
                <a:solidFill>
                  <a:srgbClr val="9AA5B4"/>
                </a:solidFill>
                <a:latin typeface="Calibri" pitchFamily="34" charset="0"/>
                <a:ea typeface="Calibri" pitchFamily="34" charset="-122"/>
                <a:cs typeface="Calibri" pitchFamily="34" charset="-120"/>
              </a:rPr>
              <a:t>September 2026</a:t>
            </a:r>
            <a:endParaRPr lang="en-US" sz="1300" dirty="0"/>
          </a:p>
        </p:txBody>
      </p:sp>
      <p:sp>
        <p:nvSpPr>
          <p:cNvPr id="6" name="Shape 4"/>
          <p:cNvSpPr/>
          <p:nvPr/>
        </p:nvSpPr>
        <p:spPr>
          <a:xfrm>
            <a:off x="6263640" y="1463040"/>
            <a:ext cx="914400" cy="868680"/>
          </a:xfrm>
          <a:prstGeom prst="line">
            <a:avLst/>
          </a:prstGeom>
          <a:noFill/>
          <a:ln w="19050">
            <a:solidFill>
              <a:srgbClr val="5E6B7D"/>
            </a:solidFill>
            <a:prstDash val="solid"/>
          </a:ln>
        </p:spPr>
      </p:sp>
      <p:sp>
        <p:nvSpPr>
          <p:cNvPr id="7" name="Shape 5"/>
          <p:cNvSpPr/>
          <p:nvPr/>
        </p:nvSpPr>
        <p:spPr>
          <a:xfrm>
            <a:off x="7178040" y="1280160"/>
            <a:ext cx="914" cy="1051560"/>
          </a:xfrm>
          <a:prstGeom prst="line">
            <a:avLst/>
          </a:prstGeom>
          <a:noFill/>
          <a:ln w="19050">
            <a:solidFill>
              <a:srgbClr val="5E6B7D"/>
            </a:solidFill>
            <a:prstDash val="solid"/>
          </a:ln>
        </p:spPr>
      </p:sp>
      <p:sp>
        <p:nvSpPr>
          <p:cNvPr id="8" name="Shape 6"/>
          <p:cNvSpPr/>
          <p:nvPr/>
        </p:nvSpPr>
        <p:spPr>
          <a:xfrm flipH="1">
            <a:off x="7178040" y="1463040"/>
            <a:ext cx="914400" cy="868680"/>
          </a:xfrm>
          <a:prstGeom prst="line">
            <a:avLst/>
          </a:prstGeom>
          <a:noFill/>
          <a:ln w="19050">
            <a:solidFill>
              <a:srgbClr val="5E6B7D"/>
            </a:solidFill>
            <a:prstDash val="solid"/>
          </a:ln>
        </p:spPr>
      </p:sp>
      <p:sp>
        <p:nvSpPr>
          <p:cNvPr id="9" name="Shape 7"/>
          <p:cNvSpPr/>
          <p:nvPr/>
        </p:nvSpPr>
        <p:spPr>
          <a:xfrm>
            <a:off x="5989320" y="914400"/>
            <a:ext cx="548640" cy="548640"/>
          </a:xfrm>
          <a:prstGeom prst="ellipse">
            <a:avLst/>
          </a:prstGeom>
          <a:solidFill>
            <a:srgbClr val="E86A10"/>
          </a:solidFill>
          <a:ln w="12700">
            <a:solidFill>
              <a:srgbClr val="E86A10"/>
            </a:solidFill>
            <a:prstDash val="solid"/>
          </a:ln>
        </p:spPr>
      </p:sp>
      <p:sp>
        <p:nvSpPr>
          <p:cNvPr id="10" name="Text 8"/>
          <p:cNvSpPr txBox="1"/>
          <p:nvPr/>
        </p:nvSpPr>
        <p:spPr>
          <a:xfrm>
            <a:off x="5989320" y="9144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1" name="Shape 9"/>
          <p:cNvSpPr/>
          <p:nvPr/>
        </p:nvSpPr>
        <p:spPr>
          <a:xfrm>
            <a:off x="6903720" y="731520"/>
            <a:ext cx="548640" cy="548640"/>
          </a:xfrm>
          <a:prstGeom prst="ellipse">
            <a:avLst/>
          </a:prstGeom>
          <a:solidFill>
            <a:srgbClr val="E86A10"/>
          </a:solidFill>
          <a:ln w="12700">
            <a:solidFill>
              <a:srgbClr val="E86A10"/>
            </a:solidFill>
            <a:prstDash val="solid"/>
          </a:ln>
        </p:spPr>
      </p:sp>
      <p:sp>
        <p:nvSpPr>
          <p:cNvPr id="12" name="Text 10"/>
          <p:cNvSpPr txBox="1"/>
          <p:nvPr/>
        </p:nvSpPr>
        <p:spPr>
          <a:xfrm>
            <a:off x="6903720" y="731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13" name="Shape 11"/>
          <p:cNvSpPr/>
          <p:nvPr/>
        </p:nvSpPr>
        <p:spPr>
          <a:xfrm>
            <a:off x="7818120" y="914400"/>
            <a:ext cx="548640" cy="548640"/>
          </a:xfrm>
          <a:prstGeom prst="ellipse">
            <a:avLst/>
          </a:prstGeom>
          <a:solidFill>
            <a:srgbClr val="E86A10"/>
          </a:solidFill>
          <a:ln w="12700">
            <a:solidFill>
              <a:srgbClr val="E86A10"/>
            </a:solidFill>
            <a:prstDash val="solid"/>
          </a:ln>
        </p:spPr>
      </p:sp>
      <p:sp>
        <p:nvSpPr>
          <p:cNvPr id="14" name="Text 12"/>
          <p:cNvSpPr txBox="1"/>
          <p:nvPr/>
        </p:nvSpPr>
        <p:spPr>
          <a:xfrm>
            <a:off x="7818120" y="9144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5" name="Shape 13"/>
          <p:cNvSpPr/>
          <p:nvPr/>
        </p:nvSpPr>
        <p:spPr>
          <a:xfrm>
            <a:off x="6812280" y="2331720"/>
            <a:ext cx="731520" cy="731520"/>
          </a:xfrm>
          <a:prstGeom prst="ellipse">
            <a:avLst/>
          </a:prstGeom>
          <a:solidFill>
            <a:srgbClr val="2F5D8A"/>
          </a:solidFill>
          <a:ln w="12700">
            <a:solidFill>
              <a:srgbClr val="2F5D8A"/>
            </a:solidFill>
            <a:prstDash val="solid"/>
          </a:ln>
        </p:spPr>
      </p:sp>
      <p:sp>
        <p:nvSpPr>
          <p:cNvPr id="16" name="Text 14"/>
          <p:cNvSpPr txBox="1"/>
          <p:nvPr/>
        </p:nvSpPr>
        <p:spPr>
          <a:xfrm>
            <a:off x="6812280" y="233172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GW</a:t>
            </a:r>
            <a:endParaRPr lang="en-US" sz="1500" dirty="0"/>
          </a:p>
        </p:txBody>
      </p:sp>
      <p:sp>
        <p:nvSpPr>
          <p:cNvPr id="17" name="Shape 15"/>
          <p:cNvSpPr/>
          <p:nvPr/>
        </p:nvSpPr>
        <p:spPr>
          <a:xfrm flipH="1">
            <a:off x="6263640" y="3063240"/>
            <a:ext cx="777240" cy="685800"/>
          </a:xfrm>
          <a:prstGeom prst="line">
            <a:avLst/>
          </a:prstGeom>
          <a:noFill/>
          <a:ln w="19050">
            <a:solidFill>
              <a:srgbClr val="5E6B7D"/>
            </a:solidFill>
            <a:prstDash val="solid"/>
          </a:ln>
        </p:spPr>
      </p:sp>
      <p:sp>
        <p:nvSpPr>
          <p:cNvPr id="18" name="Shape 16"/>
          <p:cNvSpPr/>
          <p:nvPr/>
        </p:nvSpPr>
        <p:spPr>
          <a:xfrm>
            <a:off x="7178040" y="3063240"/>
            <a:ext cx="777240" cy="685800"/>
          </a:xfrm>
          <a:prstGeom prst="line">
            <a:avLst/>
          </a:prstGeom>
          <a:noFill/>
          <a:ln w="19050">
            <a:solidFill>
              <a:srgbClr val="5E6B7D"/>
            </a:solidFill>
            <a:prstDash val="solid"/>
          </a:ln>
        </p:spPr>
      </p:sp>
      <p:sp>
        <p:nvSpPr>
          <p:cNvPr id="19" name="Shape 17"/>
          <p:cNvSpPr/>
          <p:nvPr/>
        </p:nvSpPr>
        <p:spPr>
          <a:xfrm>
            <a:off x="5897880" y="3703320"/>
            <a:ext cx="640080" cy="640080"/>
          </a:xfrm>
          <a:prstGeom prst="ellipse">
            <a:avLst/>
          </a:prstGeom>
          <a:solidFill>
            <a:srgbClr val="2E7D4F"/>
          </a:solidFill>
          <a:ln w="12700">
            <a:solidFill>
              <a:srgbClr val="2E7D4F"/>
            </a:solidFill>
            <a:prstDash val="solid"/>
          </a:ln>
        </p:spPr>
      </p:sp>
      <p:sp>
        <p:nvSpPr>
          <p:cNvPr id="20" name="Text 18"/>
          <p:cNvSpPr txBox="1"/>
          <p:nvPr/>
        </p:nvSpPr>
        <p:spPr>
          <a:xfrm>
            <a:off x="5897880" y="370332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N1</a:t>
            </a:r>
            <a:endParaRPr lang="en-US" sz="1400" dirty="0"/>
          </a:p>
        </p:txBody>
      </p:sp>
      <p:sp>
        <p:nvSpPr>
          <p:cNvPr id="21" name="Shape 19"/>
          <p:cNvSpPr/>
          <p:nvPr/>
        </p:nvSpPr>
        <p:spPr>
          <a:xfrm>
            <a:off x="7726680" y="3703320"/>
            <a:ext cx="640080" cy="640080"/>
          </a:xfrm>
          <a:prstGeom prst="ellipse">
            <a:avLst/>
          </a:prstGeom>
          <a:solidFill>
            <a:srgbClr val="2E7D4F"/>
          </a:solidFill>
          <a:ln w="12700">
            <a:solidFill>
              <a:srgbClr val="2E7D4F"/>
            </a:solidFill>
            <a:prstDash val="solid"/>
          </a:ln>
        </p:spPr>
      </p:sp>
      <p:sp>
        <p:nvSpPr>
          <p:cNvPr id="22" name="Text 20"/>
          <p:cNvSpPr txBox="1"/>
          <p:nvPr/>
        </p:nvSpPr>
        <p:spPr>
          <a:xfrm>
            <a:off x="7726680" y="370332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N2</a:t>
            </a:r>
            <a:endParaRPr lang="en-US" sz="1400" dirty="0"/>
          </a:p>
        </p:txBody>
      </p:sp>
      <p:sp>
        <p:nvSpPr>
          <p:cNvPr id="23" name="Shape 21"/>
          <p:cNvSpPr/>
          <p:nvPr/>
        </p:nvSpPr>
        <p:spPr>
          <a:xfrm>
            <a:off x="6537960" y="4023360"/>
            <a:ext cx="1188720" cy="0"/>
          </a:xfrm>
          <a:prstGeom prst="line">
            <a:avLst/>
          </a:prstGeom>
          <a:noFill/>
          <a:ln w="19050">
            <a:solidFill>
              <a:srgbClr val="7FC29B"/>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Swiggy: a real-time, three-sided system</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Every order links a customer, a restaurant and a delivery partner, live</a:t>
            </a:r>
            <a:endParaRPr lang="en-US" sz="1300" dirty="0"/>
          </a:p>
        </p:txBody>
      </p:sp>
      <p:sp>
        <p:nvSpPr>
          <p:cNvPr id="4" name="Shape 2"/>
          <p:cNvSpPr/>
          <p:nvPr/>
        </p:nvSpPr>
        <p:spPr>
          <a:xfrm>
            <a:off x="502920" y="1417320"/>
            <a:ext cx="502920" cy="502920"/>
          </a:xfrm>
          <a:prstGeom prst="ellipse">
            <a:avLst/>
          </a:prstGeom>
          <a:solidFill>
            <a:srgbClr val="E86A10"/>
          </a:solidFill>
          <a:ln w="12700">
            <a:solidFill>
              <a:srgbClr val="E86A10"/>
            </a:solidFill>
            <a:prstDash val="solid"/>
          </a:ln>
        </p:spPr>
      </p:sp>
      <p:sp>
        <p:nvSpPr>
          <p:cNvPr id="5" name="Text 3"/>
          <p:cNvSpPr txBox="1"/>
          <p:nvPr/>
        </p:nvSpPr>
        <p:spPr>
          <a:xfrm>
            <a:off x="502920" y="14173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371600"/>
            <a:ext cx="3291840" cy="320040"/>
          </a:xfrm>
          <a:prstGeom prst="rect">
            <a:avLst/>
          </a:prstGeom>
          <a:noFill/>
          <a:ln/>
        </p:spPr>
        <p:txBody>
          <a:bodyPr wrap="square" lIns="0" tIns="0" rIns="0" bIns="0" rtlCol="0" anchor="ctr"/>
          <a:lstStyle/>
          <a:p>
            <a:pPr indent="0" marL="0">
              <a:buNone/>
            </a:pPr>
            <a:r>
              <a:rPr lang="en-US" sz="1600" b="1" dirty="0">
                <a:solidFill>
                  <a:srgbClr val="1B2433"/>
                </a:solidFill>
                <a:latin typeface="Calibri" pitchFamily="34" charset="0"/>
                <a:ea typeface="Calibri" pitchFamily="34" charset="-122"/>
                <a:cs typeface="Calibri" pitchFamily="34" charset="-120"/>
              </a:rPr>
              <a:t>Customer</a:t>
            </a:r>
            <a:endParaRPr lang="en-US" sz="1600" dirty="0"/>
          </a:p>
        </p:txBody>
      </p:sp>
      <p:sp>
        <p:nvSpPr>
          <p:cNvPr id="7" name="Text 5"/>
          <p:cNvSpPr txBox="1"/>
          <p:nvPr/>
        </p:nvSpPr>
        <p:spPr>
          <a:xfrm>
            <a:off x="1188720" y="1691640"/>
            <a:ext cx="3291840" cy="45720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browses nearby restaurants, orders, tracks the order live</a:t>
            </a:r>
            <a:endParaRPr lang="en-US" sz="1300" dirty="0"/>
          </a:p>
        </p:txBody>
      </p:sp>
      <p:sp>
        <p:nvSpPr>
          <p:cNvPr id="8" name="Shape 6"/>
          <p:cNvSpPr/>
          <p:nvPr/>
        </p:nvSpPr>
        <p:spPr>
          <a:xfrm>
            <a:off x="502920" y="2404872"/>
            <a:ext cx="502920" cy="502920"/>
          </a:xfrm>
          <a:prstGeom prst="ellipse">
            <a:avLst/>
          </a:prstGeom>
          <a:solidFill>
            <a:srgbClr val="E86A10"/>
          </a:solidFill>
          <a:ln w="12700">
            <a:solidFill>
              <a:srgbClr val="E86A10"/>
            </a:solidFill>
            <a:prstDash val="solid"/>
          </a:ln>
        </p:spPr>
      </p:sp>
      <p:sp>
        <p:nvSpPr>
          <p:cNvPr id="9" name="Text 7"/>
          <p:cNvSpPr txBox="1"/>
          <p:nvPr/>
        </p:nvSpPr>
        <p:spPr>
          <a:xfrm>
            <a:off x="502920" y="24048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88720" y="2359152"/>
            <a:ext cx="3291840" cy="320040"/>
          </a:xfrm>
          <a:prstGeom prst="rect">
            <a:avLst/>
          </a:prstGeom>
          <a:noFill/>
          <a:ln/>
        </p:spPr>
        <p:txBody>
          <a:bodyPr wrap="square" lIns="0" tIns="0" rIns="0" bIns="0" rtlCol="0" anchor="ctr"/>
          <a:lstStyle/>
          <a:p>
            <a:pPr indent="0" marL="0">
              <a:buNone/>
            </a:pPr>
            <a:r>
              <a:rPr lang="en-US" sz="1600" b="1" dirty="0">
                <a:solidFill>
                  <a:srgbClr val="1B2433"/>
                </a:solidFill>
                <a:latin typeface="Calibri" pitchFamily="34" charset="0"/>
                <a:ea typeface="Calibri" pitchFamily="34" charset="-122"/>
                <a:cs typeface="Calibri" pitchFamily="34" charset="-120"/>
              </a:rPr>
              <a:t>Restaurant</a:t>
            </a:r>
            <a:endParaRPr lang="en-US" sz="1600" dirty="0"/>
          </a:p>
        </p:txBody>
      </p:sp>
      <p:sp>
        <p:nvSpPr>
          <p:cNvPr id="11" name="Text 9"/>
          <p:cNvSpPr txBox="1"/>
          <p:nvPr/>
        </p:nvSpPr>
        <p:spPr>
          <a:xfrm>
            <a:off x="1188720" y="2679192"/>
            <a:ext cx="3291840" cy="45720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receives the order, accepts it, prepares the food</a:t>
            </a:r>
            <a:endParaRPr lang="en-US" sz="1300" dirty="0"/>
          </a:p>
        </p:txBody>
      </p:sp>
      <p:sp>
        <p:nvSpPr>
          <p:cNvPr id="12" name="Shape 10"/>
          <p:cNvSpPr/>
          <p:nvPr/>
        </p:nvSpPr>
        <p:spPr>
          <a:xfrm>
            <a:off x="502920" y="3392424"/>
            <a:ext cx="502920" cy="502920"/>
          </a:xfrm>
          <a:prstGeom prst="ellipse">
            <a:avLst/>
          </a:prstGeom>
          <a:solidFill>
            <a:srgbClr val="E86A10"/>
          </a:solidFill>
          <a:ln w="12700">
            <a:solidFill>
              <a:srgbClr val="E86A10"/>
            </a:solidFill>
            <a:prstDash val="solid"/>
          </a:ln>
        </p:spPr>
      </p:sp>
      <p:sp>
        <p:nvSpPr>
          <p:cNvPr id="13" name="Text 11"/>
          <p:cNvSpPr txBox="1"/>
          <p:nvPr/>
        </p:nvSpPr>
        <p:spPr>
          <a:xfrm>
            <a:off x="502920" y="339242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88720" y="3346704"/>
            <a:ext cx="3291840" cy="320040"/>
          </a:xfrm>
          <a:prstGeom prst="rect">
            <a:avLst/>
          </a:prstGeom>
          <a:noFill/>
          <a:ln/>
        </p:spPr>
        <p:txBody>
          <a:bodyPr wrap="square" lIns="0" tIns="0" rIns="0" bIns="0" rtlCol="0" anchor="ctr"/>
          <a:lstStyle/>
          <a:p>
            <a:pPr indent="0" marL="0">
              <a:buNone/>
            </a:pPr>
            <a:r>
              <a:rPr lang="en-US" sz="1600" b="1" dirty="0">
                <a:solidFill>
                  <a:srgbClr val="1B2433"/>
                </a:solidFill>
                <a:latin typeface="Calibri" pitchFamily="34" charset="0"/>
                <a:ea typeface="Calibri" pitchFamily="34" charset="-122"/>
                <a:cs typeface="Calibri" pitchFamily="34" charset="-120"/>
              </a:rPr>
              <a:t>Delivery partner</a:t>
            </a:r>
            <a:endParaRPr lang="en-US" sz="1600" dirty="0"/>
          </a:p>
        </p:txBody>
      </p:sp>
      <p:sp>
        <p:nvSpPr>
          <p:cNvPr id="15" name="Text 13"/>
          <p:cNvSpPr txBox="1"/>
          <p:nvPr/>
        </p:nvSpPr>
        <p:spPr>
          <a:xfrm>
            <a:off x="1188720" y="3666744"/>
            <a:ext cx="3291840" cy="45720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is assigned the trip, picks up, delivers; phone sends location</a:t>
            </a:r>
            <a:endParaRPr lang="en-US" sz="1300" dirty="0"/>
          </a:p>
        </p:txBody>
      </p:sp>
      <p:sp>
        <p:nvSpPr>
          <p:cNvPr id="16" name="Shape 14"/>
          <p:cNvSpPr/>
          <p:nvPr/>
        </p:nvSpPr>
        <p:spPr>
          <a:xfrm>
            <a:off x="4846320" y="1280160"/>
            <a:ext cx="3840480" cy="3291840"/>
          </a:xfrm>
          <a:prstGeom prst="roundRect">
            <a:avLst>
              <a:gd name="adj" fmla="val 2222"/>
            </a:avLst>
          </a:prstGeom>
          <a:solidFill>
            <a:srgbClr val="FDF1E7"/>
          </a:solidFill>
          <a:ln w="12700">
            <a:solidFill>
              <a:srgbClr val="FDF1E7"/>
            </a:solidFill>
            <a:prstDash val="solid"/>
          </a:ln>
        </p:spPr>
      </p:sp>
      <p:sp>
        <p:nvSpPr>
          <p:cNvPr id="17" name="Text 15"/>
          <p:cNvSpPr txBox="1"/>
          <p:nvPr/>
        </p:nvSpPr>
        <p:spPr>
          <a:xfrm>
            <a:off x="5120640" y="1463040"/>
            <a:ext cx="164592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400+</a:t>
            </a:r>
            <a:endParaRPr lang="en-US" sz="3200" dirty="0"/>
          </a:p>
        </p:txBody>
      </p:sp>
      <p:sp>
        <p:nvSpPr>
          <p:cNvPr id="18" name="Text 16"/>
          <p:cNvSpPr txBox="1"/>
          <p:nvPr/>
        </p:nvSpPr>
        <p:spPr>
          <a:xfrm>
            <a:off x="5120640" y="2029968"/>
            <a:ext cx="164592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microservices in production</a:t>
            </a:r>
            <a:endParaRPr lang="en-US" sz="1200" dirty="0"/>
          </a:p>
        </p:txBody>
      </p:sp>
      <p:sp>
        <p:nvSpPr>
          <p:cNvPr id="19" name="Text 17"/>
          <p:cNvSpPr txBox="1"/>
          <p:nvPr/>
        </p:nvSpPr>
        <p:spPr>
          <a:xfrm>
            <a:off x="6949440" y="1463040"/>
            <a:ext cx="164592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130+</a:t>
            </a:r>
            <a:endParaRPr lang="en-US" sz="3200" dirty="0"/>
          </a:p>
        </p:txBody>
      </p:sp>
      <p:sp>
        <p:nvSpPr>
          <p:cNvPr id="20" name="Text 18"/>
          <p:cNvSpPr txBox="1"/>
          <p:nvPr/>
        </p:nvSpPr>
        <p:spPr>
          <a:xfrm>
            <a:off x="6949440" y="2029968"/>
            <a:ext cx="164592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services in the order path</a:t>
            </a:r>
            <a:endParaRPr lang="en-US" sz="1200" dirty="0"/>
          </a:p>
        </p:txBody>
      </p:sp>
      <p:sp>
        <p:nvSpPr>
          <p:cNvPr id="21" name="Text 19"/>
          <p:cNvSpPr txBox="1"/>
          <p:nvPr/>
        </p:nvSpPr>
        <p:spPr>
          <a:xfrm>
            <a:off x="5120640" y="2834640"/>
            <a:ext cx="164592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3x</a:t>
            </a:r>
            <a:endParaRPr lang="en-US" sz="3200" dirty="0"/>
          </a:p>
        </p:txBody>
      </p:sp>
      <p:sp>
        <p:nvSpPr>
          <p:cNvPr id="22" name="Text 20"/>
          <p:cNvSpPr txBox="1"/>
          <p:nvPr/>
        </p:nvSpPr>
        <p:spPr>
          <a:xfrm>
            <a:off x="5120640" y="3401568"/>
            <a:ext cx="164592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lunch traffic swing, 100K to 300K req/min</a:t>
            </a:r>
            <a:endParaRPr lang="en-US" sz="1200" dirty="0"/>
          </a:p>
        </p:txBody>
      </p:sp>
      <p:sp>
        <p:nvSpPr>
          <p:cNvPr id="23" name="Text 21"/>
          <p:cNvSpPr txBox="1"/>
          <p:nvPr/>
        </p:nvSpPr>
        <p:spPr>
          <a:xfrm>
            <a:off x="6949440" y="2834640"/>
            <a:ext cx="164592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10,000+</a:t>
            </a:r>
            <a:endParaRPr lang="en-US" sz="3200" dirty="0"/>
          </a:p>
        </p:txBody>
      </p:sp>
      <p:sp>
        <p:nvSpPr>
          <p:cNvPr id="24" name="Text 22"/>
          <p:cNvSpPr txBox="1"/>
          <p:nvPr/>
        </p:nvSpPr>
        <p:spPr>
          <a:xfrm>
            <a:off x="6949440" y="3401568"/>
            <a:ext cx="164592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containers on AWS</a:t>
            </a:r>
            <a:endParaRPr lang="en-US" sz="1200" dirty="0"/>
          </a:p>
        </p:txBody>
      </p:sp>
      <p:sp>
        <p:nvSpPr>
          <p:cNvPr id="25" name="Text 23"/>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Numbers as reported by Swiggy: Swiggy Bytes [1], [3]; Orca Security case study [37]. Reference list in the Phase 1 document.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Architecture at a glance</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Five layers, all on AWS</a:t>
            </a:r>
            <a:endParaRPr lang="en-US" sz="1300" dirty="0"/>
          </a:p>
        </p:txBody>
      </p:sp>
      <p:pic>
        <p:nvPicPr>
          <p:cNvPr id="4" name="Image 0" descr="Swiggy architecture layers">    </p:cNvPr>
          <p:cNvPicPr>
            <a:picLocks noChangeAspect="1"/>
          </p:cNvPicPr>
          <p:nvPr/>
        </p:nvPicPr>
        <p:blipFill>
          <a:blip r:embed="rId1"/>
          <a:stretch>
            <a:fillRect/>
          </a:stretch>
        </p:blipFill>
        <p:spPr>
          <a:xfrm>
            <a:off x="722906" y="1188720"/>
            <a:ext cx="4406348" cy="3520440"/>
          </a:xfrm>
          <a:prstGeom prst="rect">
            <a:avLst/>
          </a:prstGeom>
        </p:spPr>
      </p:pic>
      <p:sp>
        <p:nvSpPr>
          <p:cNvPr id="5" name="Text 2"/>
          <p:cNvSpPr txBox="1"/>
          <p:nvPr/>
        </p:nvSpPr>
        <p:spPr>
          <a:xfrm>
            <a:off x="5715000" y="1234440"/>
            <a:ext cx="3017520" cy="603504"/>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Apps  </a:t>
            </a:r>
            <a:pPr indent="0" marL="0">
              <a:buNone/>
            </a:pPr>
            <a:r>
              <a:rPr lang="en-US" sz="1250" dirty="0">
                <a:solidFill>
                  <a:srgbClr val="1B2433"/>
                </a:solidFill>
                <a:latin typeface="Calibri" pitchFamily="34" charset="0"/>
                <a:ea typeface="Calibri" pitchFamily="34" charset="-122"/>
                <a:cs typeface="Calibri" pitchFamily="34" charset="-120"/>
              </a:rPr>
              <a:t>customer, restaurant and delivery-partner apps</a:t>
            </a:r>
            <a:endParaRPr lang="en-US" sz="1250" dirty="0"/>
          </a:p>
        </p:txBody>
      </p:sp>
      <p:sp>
        <p:nvSpPr>
          <p:cNvPr id="6" name="Text 3"/>
          <p:cNvSpPr txBox="1"/>
          <p:nvPr/>
        </p:nvSpPr>
        <p:spPr>
          <a:xfrm>
            <a:off x="5715000" y="1911096"/>
            <a:ext cx="3017520" cy="603504"/>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Edge  </a:t>
            </a:r>
            <a:pPr indent="0" marL="0">
              <a:buNone/>
            </a:pPr>
            <a:r>
              <a:rPr lang="en-US" sz="1250" dirty="0">
                <a:solidFill>
                  <a:srgbClr val="1B2433"/>
                </a:solidFill>
                <a:latin typeface="Calibri" pitchFamily="34" charset="0"/>
                <a:ea typeface="Calibri" pitchFamily="34" charset="-122"/>
                <a:cs typeface="Calibri" pitchFamily="34" charset="-120"/>
              </a:rPr>
              <a:t>AWS load balancers; Kong + HAProxy for web</a:t>
            </a:r>
            <a:endParaRPr lang="en-US" sz="1250" dirty="0"/>
          </a:p>
        </p:txBody>
      </p:sp>
      <p:sp>
        <p:nvSpPr>
          <p:cNvPr id="7" name="Text 4"/>
          <p:cNvSpPr txBox="1"/>
          <p:nvPr/>
        </p:nvSpPr>
        <p:spPr>
          <a:xfrm>
            <a:off x="5715000" y="2587752"/>
            <a:ext cx="3017520" cy="603504"/>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Services  </a:t>
            </a:r>
            <a:pPr indent="0" marL="0">
              <a:buNone/>
            </a:pPr>
            <a:r>
              <a:rPr lang="en-US" sz="1250" dirty="0">
                <a:solidFill>
                  <a:srgbClr val="1B2433"/>
                </a:solidFill>
                <a:latin typeface="Calibri" pitchFamily="34" charset="0"/>
                <a:ea typeface="Calibri" pitchFamily="34" charset="-122"/>
                <a:cs typeface="Calibri" pitchFamily="34" charset="-120"/>
              </a:rPr>
              <a:t>400+ microservices (Java, Go, Scala) on 10 Kubernetes clusters</a:t>
            </a:r>
            <a:endParaRPr lang="en-US" sz="1250" dirty="0"/>
          </a:p>
        </p:txBody>
      </p:sp>
      <p:sp>
        <p:nvSpPr>
          <p:cNvPr id="8" name="Text 5"/>
          <p:cNvSpPr txBox="1"/>
          <p:nvPr/>
        </p:nvSpPr>
        <p:spPr>
          <a:xfrm>
            <a:off x="5715000" y="3264408"/>
            <a:ext cx="3017520" cy="603504"/>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Messaging  </a:t>
            </a:r>
            <a:pPr indent="0" marL="0">
              <a:buNone/>
            </a:pPr>
            <a:r>
              <a:rPr lang="en-US" sz="1250" dirty="0">
                <a:solidFill>
                  <a:srgbClr val="1B2433"/>
                </a:solidFill>
                <a:latin typeface="Calibri" pitchFamily="34" charset="0"/>
                <a:ea typeface="Calibri" pitchFamily="34" charset="-122"/>
                <a:cs typeface="Calibri" pitchFamily="34" charset="-120"/>
              </a:rPr>
              <a:t>Kafka events; SQS and RabbitMQ queues</a:t>
            </a:r>
            <a:endParaRPr lang="en-US" sz="1250" dirty="0"/>
          </a:p>
        </p:txBody>
      </p:sp>
      <p:sp>
        <p:nvSpPr>
          <p:cNvPr id="9" name="Text 6"/>
          <p:cNvSpPr txBox="1"/>
          <p:nvPr/>
        </p:nvSpPr>
        <p:spPr>
          <a:xfrm>
            <a:off x="5715000" y="3941064"/>
            <a:ext cx="3017520" cy="603504"/>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Data  </a:t>
            </a:r>
            <a:pPr indent="0" marL="0">
              <a:buNone/>
            </a:pPr>
            <a:r>
              <a:rPr lang="en-US" sz="1250" dirty="0">
                <a:solidFill>
                  <a:srgbClr val="1B2433"/>
                </a:solidFill>
                <a:latin typeface="Calibri" pitchFamily="34" charset="0"/>
                <a:ea typeface="Calibri" pitchFamily="34" charset="-122"/>
                <a:cs typeface="Calibri" pitchFamily="34" charset="-120"/>
              </a:rPr>
              <a:t>MySQL (RDS), DynamoDB, Redis, Aerospike, Tile38; CDC to a data lake</a:t>
            </a:r>
            <a:endParaRPr lang="en-US" sz="1250" dirty="0"/>
          </a:p>
        </p:txBody>
      </p:sp>
      <p:sp>
        <p:nvSpPr>
          <p:cNvPr id="10" name="Text 7"/>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Diagram: my summary of Swiggy's published posts and case studies (Phase 1 references); grouping simplified. Swiggy has no single official diagram.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The life of an order</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Checkout is orchestrated; everything after it is event-driven</a:t>
            </a:r>
            <a:endParaRPr lang="en-US" sz="1300" dirty="0"/>
          </a:p>
        </p:txBody>
      </p:sp>
      <p:pic>
        <p:nvPicPr>
          <p:cNvPr id="4" name="Image 0" descr="Order flow through Swiggy services">    </p:cNvPr>
          <p:cNvPicPr>
            <a:picLocks noChangeAspect="1"/>
          </p:cNvPicPr>
          <p:nvPr/>
        </p:nvPicPr>
        <p:blipFill>
          <a:blip r:embed="rId1"/>
          <a:stretch>
            <a:fillRect/>
          </a:stretch>
        </p:blipFill>
        <p:spPr>
          <a:xfrm>
            <a:off x="1361397" y="1188720"/>
            <a:ext cx="6421205" cy="2423160"/>
          </a:xfrm>
          <a:prstGeom prst="rect">
            <a:avLst/>
          </a:prstGeom>
        </p:spPr>
      </p:pic>
      <p:sp>
        <p:nvSpPr>
          <p:cNvPr id="5" name="Shape 2"/>
          <p:cNvSpPr/>
          <p:nvPr/>
        </p:nvSpPr>
        <p:spPr>
          <a:xfrm>
            <a:off x="457200" y="3749040"/>
            <a:ext cx="4023360" cy="914400"/>
          </a:xfrm>
          <a:prstGeom prst="roundRect">
            <a:avLst>
              <a:gd name="adj" fmla="val 8000"/>
            </a:avLst>
          </a:prstGeom>
          <a:solidFill>
            <a:srgbClr val="F4F6F8"/>
          </a:solidFill>
          <a:ln w="12700">
            <a:solidFill>
              <a:srgbClr val="F4F6F8"/>
            </a:solidFill>
            <a:prstDash val="solid"/>
          </a:ln>
        </p:spPr>
      </p:sp>
      <p:sp>
        <p:nvSpPr>
          <p:cNvPr id="6" name="Text 3"/>
          <p:cNvSpPr txBox="1"/>
          <p:nvPr/>
        </p:nvSpPr>
        <p:spPr>
          <a:xfrm>
            <a:off x="594360" y="3794760"/>
            <a:ext cx="3749040" cy="822960"/>
          </a:xfrm>
          <a:prstGeom prst="rect">
            <a:avLst/>
          </a:prstGeom>
          <a:noFill/>
          <a:ln/>
        </p:spPr>
        <p:txBody>
          <a:bodyPr wrap="square" lIns="0" tIns="0" rIns="0" bIns="0" rtlCol="0" anchor="ctr"/>
          <a:lstStyle/>
          <a:p>
            <a:pPr indent="0" marL="0">
              <a:buNone/>
            </a:pPr>
            <a:r>
              <a:rPr lang="en-US" sz="1200" b="1" dirty="0">
                <a:solidFill>
                  <a:srgbClr val="E86A10"/>
                </a:solidFill>
                <a:latin typeface="Calibri" pitchFamily="34" charset="0"/>
                <a:ea typeface="Calibri" pitchFamily="34" charset="-122"/>
                <a:cs typeface="Calibri" pitchFamily="34" charset="-120"/>
              </a:rPr>
              <a:t>Orchestration  </a:t>
            </a:r>
            <a:pPr indent="0" marL="0">
              <a:buNone/>
            </a:pPr>
            <a:r>
              <a:rPr lang="en-US" sz="1200" dirty="0">
                <a:solidFill>
                  <a:srgbClr val="1B2433"/>
                </a:solidFill>
                <a:latin typeface="Calibri" pitchFamily="34" charset="0"/>
                <a:ea typeface="Calibri" pitchFamily="34" charset="-122"/>
                <a:cs typeface="Calibri" pitchFamily="34" charset="-120"/>
              </a:rPr>
              <a:t>the checkout orchestrator calls cart, pricing, availability and payment in order, so the customer gets one clear yes/no [12].</a:t>
            </a:r>
            <a:endParaRPr lang="en-US" sz="1200" dirty="0"/>
          </a:p>
        </p:txBody>
      </p:sp>
      <p:sp>
        <p:nvSpPr>
          <p:cNvPr id="7" name="Shape 4"/>
          <p:cNvSpPr/>
          <p:nvPr/>
        </p:nvSpPr>
        <p:spPr>
          <a:xfrm>
            <a:off x="4663440" y="3749040"/>
            <a:ext cx="4023360" cy="914400"/>
          </a:xfrm>
          <a:prstGeom prst="roundRect">
            <a:avLst>
              <a:gd name="adj" fmla="val 8000"/>
            </a:avLst>
          </a:prstGeom>
          <a:solidFill>
            <a:srgbClr val="F4F6F8"/>
          </a:solidFill>
          <a:ln w="12700">
            <a:solidFill>
              <a:srgbClr val="F4F6F8"/>
            </a:solidFill>
            <a:prstDash val="solid"/>
          </a:ln>
        </p:spPr>
      </p:sp>
      <p:sp>
        <p:nvSpPr>
          <p:cNvPr id="8" name="Text 5"/>
          <p:cNvSpPr txBox="1"/>
          <p:nvPr/>
        </p:nvSpPr>
        <p:spPr>
          <a:xfrm>
            <a:off x="4800600" y="3794760"/>
            <a:ext cx="3749040" cy="822960"/>
          </a:xfrm>
          <a:prstGeom prst="rect">
            <a:avLst/>
          </a:prstGeom>
          <a:noFill/>
          <a:ln/>
        </p:spPr>
        <p:txBody>
          <a:bodyPr wrap="square" lIns="0" tIns="0" rIns="0" bIns="0" rtlCol="0" anchor="ctr"/>
          <a:lstStyle/>
          <a:p>
            <a:pPr indent="0" marL="0">
              <a:buNone/>
            </a:pPr>
            <a:r>
              <a:rPr lang="en-US" sz="1200" b="1" dirty="0">
                <a:solidFill>
                  <a:srgbClr val="E86A10"/>
                </a:solidFill>
                <a:latin typeface="Calibri" pitchFamily="34" charset="0"/>
                <a:ea typeface="Calibri" pitchFamily="34" charset="-122"/>
                <a:cs typeface="Calibri" pitchFamily="34" charset="-120"/>
              </a:rPr>
              <a:t>Choreography  </a:t>
            </a:r>
            <a:pPr indent="0" marL="0">
              <a:buNone/>
            </a:pPr>
            <a:r>
              <a:rPr lang="en-US" sz="1200" dirty="0">
                <a:solidFill>
                  <a:srgbClr val="1B2433"/>
                </a:solidFill>
                <a:latin typeface="Calibri" pitchFamily="34" charset="0"/>
                <a:ea typeface="Calibri" pitchFamily="34" charset="-122"/>
                <a:cs typeface="Calibri" pitchFamily="34" charset="-120"/>
              </a:rPr>
              <a:t>the Order Data Service publishes to Kafka; Delivery, Vendor and CRM react on their own [14], [15].</a:t>
            </a:r>
            <a:endParaRPr lang="en-US" sz="1200" dirty="0"/>
          </a:p>
        </p:txBody>
      </p:sp>
      <p:sp>
        <p:nvSpPr>
          <p:cNvPr id="9" name="Text 6"/>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Sources: Swiggy Bytes [12], [14], [15], [26]. The Kabootar notification link is my inference.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Distributed paradigms found in Swiggy</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Each one backed by a published source</a:t>
            </a:r>
            <a:endParaRPr lang="en-US" sz="1300" dirty="0"/>
          </a:p>
        </p:txBody>
      </p:sp>
      <p:sp>
        <p:nvSpPr>
          <p:cNvPr id="4" name="Shape 2"/>
          <p:cNvSpPr/>
          <p:nvPr/>
        </p:nvSpPr>
        <p:spPr>
          <a:xfrm>
            <a:off x="457200" y="1280160"/>
            <a:ext cx="2606040" cy="1463040"/>
          </a:xfrm>
          <a:prstGeom prst="roundRect">
            <a:avLst>
              <a:gd name="adj" fmla="val 5000"/>
            </a:avLst>
          </a:prstGeom>
          <a:solidFill>
            <a:srgbClr val="F4F6F8"/>
          </a:solidFill>
          <a:ln w="12700">
            <a:solidFill>
              <a:srgbClr val="F4F6F8"/>
            </a:solidFill>
            <a:prstDash val="solid"/>
          </a:ln>
        </p:spPr>
      </p:sp>
      <p:sp>
        <p:nvSpPr>
          <p:cNvPr id="5" name="Shape 3"/>
          <p:cNvSpPr/>
          <p:nvPr/>
        </p:nvSpPr>
        <p:spPr>
          <a:xfrm>
            <a:off x="621792" y="1463040"/>
            <a:ext cx="384048" cy="384048"/>
          </a:xfrm>
          <a:prstGeom prst="ellipse">
            <a:avLst/>
          </a:prstGeom>
          <a:solidFill>
            <a:srgbClr val="E86A10"/>
          </a:solidFill>
          <a:ln w="12700">
            <a:solidFill>
              <a:srgbClr val="E86A10"/>
            </a:solidFill>
            <a:prstDash val="solid"/>
          </a:ln>
        </p:spPr>
      </p:sp>
      <p:sp>
        <p:nvSpPr>
          <p:cNvPr id="6" name="Text 4"/>
          <p:cNvSpPr txBox="1"/>
          <p:nvPr/>
        </p:nvSpPr>
        <p:spPr>
          <a:xfrm>
            <a:off x="621792"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15568" y="1444752"/>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Client-server</a:t>
            </a:r>
            <a:endParaRPr lang="en-US" sz="1400" dirty="0"/>
          </a:p>
        </p:txBody>
      </p:sp>
      <p:sp>
        <p:nvSpPr>
          <p:cNvPr id="8" name="Text 6"/>
          <p:cNvSpPr txBox="1"/>
          <p:nvPr/>
        </p:nvSpPr>
        <p:spPr>
          <a:xfrm>
            <a:off x="640080" y="1938528"/>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apps call backend APIs through load balancers and gateway</a:t>
            </a:r>
            <a:endParaRPr lang="en-US" sz="1150" dirty="0"/>
          </a:p>
        </p:txBody>
      </p:sp>
      <p:sp>
        <p:nvSpPr>
          <p:cNvPr id="9" name="Text 7"/>
          <p:cNvSpPr txBox="1"/>
          <p:nvPr/>
        </p:nvSpPr>
        <p:spPr>
          <a:xfrm>
            <a:off x="640080" y="2450592"/>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[10], [11]</a:t>
            </a:r>
            <a:endParaRPr lang="en-US" sz="950" dirty="0"/>
          </a:p>
        </p:txBody>
      </p:sp>
      <p:sp>
        <p:nvSpPr>
          <p:cNvPr id="10" name="Shape 8"/>
          <p:cNvSpPr/>
          <p:nvPr/>
        </p:nvSpPr>
        <p:spPr>
          <a:xfrm>
            <a:off x="3246120" y="1280160"/>
            <a:ext cx="2606040" cy="1463040"/>
          </a:xfrm>
          <a:prstGeom prst="roundRect">
            <a:avLst>
              <a:gd name="adj" fmla="val 5000"/>
            </a:avLst>
          </a:prstGeom>
          <a:solidFill>
            <a:srgbClr val="F4F6F8"/>
          </a:solidFill>
          <a:ln w="12700">
            <a:solidFill>
              <a:srgbClr val="F4F6F8"/>
            </a:solidFill>
            <a:prstDash val="solid"/>
          </a:ln>
        </p:spPr>
      </p:sp>
      <p:sp>
        <p:nvSpPr>
          <p:cNvPr id="11" name="Shape 9"/>
          <p:cNvSpPr/>
          <p:nvPr/>
        </p:nvSpPr>
        <p:spPr>
          <a:xfrm>
            <a:off x="3410712" y="1463040"/>
            <a:ext cx="384048" cy="384048"/>
          </a:xfrm>
          <a:prstGeom prst="ellipse">
            <a:avLst/>
          </a:prstGeom>
          <a:solidFill>
            <a:srgbClr val="E86A10"/>
          </a:solidFill>
          <a:ln w="12700">
            <a:solidFill>
              <a:srgbClr val="E86A10"/>
            </a:solidFill>
            <a:prstDash val="solid"/>
          </a:ln>
        </p:spPr>
      </p:sp>
      <p:sp>
        <p:nvSpPr>
          <p:cNvPr id="12" name="Text 10"/>
          <p:cNvSpPr txBox="1"/>
          <p:nvPr/>
        </p:nvSpPr>
        <p:spPr>
          <a:xfrm>
            <a:off x="3410712"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904488" y="1444752"/>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Microservices</a:t>
            </a:r>
            <a:endParaRPr lang="en-US" sz="1400" dirty="0"/>
          </a:p>
        </p:txBody>
      </p:sp>
      <p:sp>
        <p:nvSpPr>
          <p:cNvPr id="14" name="Text 12"/>
          <p:cNvSpPr txBox="1"/>
          <p:nvPr/>
        </p:nvSpPr>
        <p:spPr>
          <a:xfrm>
            <a:off x="3429000" y="1938528"/>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400+ services; logistics rebuilt as a multi-tier platform</a:t>
            </a:r>
            <a:endParaRPr lang="en-US" sz="1150" dirty="0"/>
          </a:p>
        </p:txBody>
      </p:sp>
      <p:sp>
        <p:nvSpPr>
          <p:cNvPr id="15" name="Text 13"/>
          <p:cNvSpPr txBox="1"/>
          <p:nvPr/>
        </p:nvSpPr>
        <p:spPr>
          <a:xfrm>
            <a:off x="3429000" y="2450592"/>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[1], [5]</a:t>
            </a:r>
            <a:endParaRPr lang="en-US" sz="950" dirty="0"/>
          </a:p>
        </p:txBody>
      </p:sp>
      <p:sp>
        <p:nvSpPr>
          <p:cNvPr id="16" name="Shape 14"/>
          <p:cNvSpPr/>
          <p:nvPr/>
        </p:nvSpPr>
        <p:spPr>
          <a:xfrm>
            <a:off x="6035040" y="1280160"/>
            <a:ext cx="2606040" cy="1463040"/>
          </a:xfrm>
          <a:prstGeom prst="roundRect">
            <a:avLst>
              <a:gd name="adj" fmla="val 5000"/>
            </a:avLst>
          </a:prstGeom>
          <a:solidFill>
            <a:srgbClr val="F4F6F8"/>
          </a:solidFill>
          <a:ln w="12700">
            <a:solidFill>
              <a:srgbClr val="F4F6F8"/>
            </a:solidFill>
            <a:prstDash val="solid"/>
          </a:ln>
        </p:spPr>
      </p:sp>
      <p:sp>
        <p:nvSpPr>
          <p:cNvPr id="17" name="Shape 15"/>
          <p:cNvSpPr/>
          <p:nvPr/>
        </p:nvSpPr>
        <p:spPr>
          <a:xfrm>
            <a:off x="6199632" y="1463040"/>
            <a:ext cx="384048" cy="384048"/>
          </a:xfrm>
          <a:prstGeom prst="ellipse">
            <a:avLst/>
          </a:prstGeom>
          <a:solidFill>
            <a:srgbClr val="E86A10"/>
          </a:solidFill>
          <a:ln w="12700">
            <a:solidFill>
              <a:srgbClr val="E86A10"/>
            </a:solidFill>
            <a:prstDash val="solid"/>
          </a:ln>
        </p:spPr>
      </p:sp>
      <p:sp>
        <p:nvSpPr>
          <p:cNvPr id="18" name="Text 16"/>
          <p:cNvSpPr txBox="1"/>
          <p:nvPr/>
        </p:nvSpPr>
        <p:spPr>
          <a:xfrm>
            <a:off x="6199632"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693408" y="1444752"/>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Publish / subscribe</a:t>
            </a:r>
            <a:endParaRPr lang="en-US" sz="1400" dirty="0"/>
          </a:p>
        </p:txBody>
      </p:sp>
      <p:sp>
        <p:nvSpPr>
          <p:cNvPr id="20" name="Text 18"/>
          <p:cNvSpPr txBox="1"/>
          <p:nvPr/>
        </p:nvSpPr>
        <p:spPr>
          <a:xfrm>
            <a:off x="6217920" y="1938528"/>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Kafka; 50+ services on the order-journey cluster</a:t>
            </a:r>
            <a:endParaRPr lang="en-US" sz="1150" dirty="0"/>
          </a:p>
        </p:txBody>
      </p:sp>
      <p:sp>
        <p:nvSpPr>
          <p:cNvPr id="21" name="Text 19"/>
          <p:cNvSpPr txBox="1"/>
          <p:nvPr/>
        </p:nvSpPr>
        <p:spPr>
          <a:xfrm>
            <a:off x="6217920" y="2450592"/>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[14], [15]</a:t>
            </a:r>
            <a:endParaRPr lang="en-US" sz="950" dirty="0"/>
          </a:p>
        </p:txBody>
      </p:sp>
      <p:sp>
        <p:nvSpPr>
          <p:cNvPr id="22" name="Shape 20"/>
          <p:cNvSpPr/>
          <p:nvPr/>
        </p:nvSpPr>
        <p:spPr>
          <a:xfrm>
            <a:off x="457200" y="2907792"/>
            <a:ext cx="2606040" cy="1463040"/>
          </a:xfrm>
          <a:prstGeom prst="roundRect">
            <a:avLst>
              <a:gd name="adj" fmla="val 5000"/>
            </a:avLst>
          </a:prstGeom>
          <a:solidFill>
            <a:srgbClr val="F4F6F8"/>
          </a:solidFill>
          <a:ln w="12700">
            <a:solidFill>
              <a:srgbClr val="F4F6F8"/>
            </a:solidFill>
            <a:prstDash val="solid"/>
          </a:ln>
        </p:spPr>
      </p:sp>
      <p:sp>
        <p:nvSpPr>
          <p:cNvPr id="23" name="Shape 21"/>
          <p:cNvSpPr/>
          <p:nvPr/>
        </p:nvSpPr>
        <p:spPr>
          <a:xfrm>
            <a:off x="621792" y="3090672"/>
            <a:ext cx="384048" cy="384048"/>
          </a:xfrm>
          <a:prstGeom prst="ellipse">
            <a:avLst/>
          </a:prstGeom>
          <a:solidFill>
            <a:srgbClr val="E86A10"/>
          </a:solidFill>
          <a:ln w="12700">
            <a:solidFill>
              <a:srgbClr val="E86A10"/>
            </a:solidFill>
            <a:prstDash val="solid"/>
          </a:ln>
        </p:spPr>
      </p:sp>
      <p:sp>
        <p:nvSpPr>
          <p:cNvPr id="24" name="Text 22"/>
          <p:cNvSpPr txBox="1"/>
          <p:nvPr/>
        </p:nvSpPr>
        <p:spPr>
          <a:xfrm>
            <a:off x="621792" y="30906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115568" y="3072384"/>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Message queues</a:t>
            </a:r>
            <a:endParaRPr lang="en-US" sz="1400" dirty="0"/>
          </a:p>
        </p:txBody>
      </p:sp>
      <p:sp>
        <p:nvSpPr>
          <p:cNvPr id="26" name="Text 24"/>
          <p:cNvSpPr txBox="1"/>
          <p:nvPr/>
        </p:nvSpPr>
        <p:spPr>
          <a:xfrm>
            <a:off x="640080" y="3566160"/>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SQS for point-to-point jobs; RabbitMQ for notifications</a:t>
            </a:r>
            <a:endParaRPr lang="en-US" sz="1150" dirty="0"/>
          </a:p>
        </p:txBody>
      </p:sp>
      <p:sp>
        <p:nvSpPr>
          <p:cNvPr id="27" name="Text 25"/>
          <p:cNvSpPr txBox="1"/>
          <p:nvPr/>
        </p:nvSpPr>
        <p:spPr>
          <a:xfrm>
            <a:off x="640080" y="4078224"/>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[14], [7]</a:t>
            </a:r>
            <a:endParaRPr lang="en-US" sz="950" dirty="0"/>
          </a:p>
        </p:txBody>
      </p:sp>
      <p:sp>
        <p:nvSpPr>
          <p:cNvPr id="28" name="Shape 26"/>
          <p:cNvSpPr/>
          <p:nvPr/>
        </p:nvSpPr>
        <p:spPr>
          <a:xfrm>
            <a:off x="3246120" y="2907792"/>
            <a:ext cx="2606040" cy="1463040"/>
          </a:xfrm>
          <a:prstGeom prst="roundRect">
            <a:avLst>
              <a:gd name="adj" fmla="val 5000"/>
            </a:avLst>
          </a:prstGeom>
          <a:solidFill>
            <a:srgbClr val="F4F6F8"/>
          </a:solidFill>
          <a:ln w="12700">
            <a:solidFill>
              <a:srgbClr val="F4F6F8"/>
            </a:solidFill>
            <a:prstDash val="solid"/>
          </a:ln>
        </p:spPr>
      </p:sp>
      <p:sp>
        <p:nvSpPr>
          <p:cNvPr id="29" name="Shape 27"/>
          <p:cNvSpPr/>
          <p:nvPr/>
        </p:nvSpPr>
        <p:spPr>
          <a:xfrm>
            <a:off x="3410712" y="3090672"/>
            <a:ext cx="384048" cy="384048"/>
          </a:xfrm>
          <a:prstGeom prst="ellipse">
            <a:avLst/>
          </a:prstGeom>
          <a:solidFill>
            <a:srgbClr val="E86A10"/>
          </a:solidFill>
          <a:ln w="12700">
            <a:solidFill>
              <a:srgbClr val="E86A10"/>
            </a:solidFill>
            <a:prstDash val="solid"/>
          </a:ln>
        </p:spPr>
      </p:sp>
      <p:sp>
        <p:nvSpPr>
          <p:cNvPr id="30" name="Text 28"/>
          <p:cNvSpPr txBox="1"/>
          <p:nvPr/>
        </p:nvSpPr>
        <p:spPr>
          <a:xfrm>
            <a:off x="3410712" y="30906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3904488" y="3072384"/>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Orchestration + choreography</a:t>
            </a:r>
            <a:endParaRPr lang="en-US" sz="1400" dirty="0"/>
          </a:p>
        </p:txBody>
      </p:sp>
      <p:sp>
        <p:nvSpPr>
          <p:cNvPr id="32" name="Text 30"/>
          <p:cNvSpPr txBox="1"/>
          <p:nvPr/>
        </p:nvSpPr>
        <p:spPr>
          <a:xfrm>
            <a:off x="3429000" y="3566160"/>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checkout orchestrator plus Kafka event reactions</a:t>
            </a:r>
            <a:endParaRPr lang="en-US" sz="1150" dirty="0"/>
          </a:p>
        </p:txBody>
      </p:sp>
      <p:sp>
        <p:nvSpPr>
          <p:cNvPr id="33" name="Text 31"/>
          <p:cNvSpPr txBox="1"/>
          <p:nvPr/>
        </p:nvSpPr>
        <p:spPr>
          <a:xfrm>
            <a:off x="3429000" y="4078224"/>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[12], [15]</a:t>
            </a:r>
            <a:endParaRPr lang="en-US" sz="950" dirty="0"/>
          </a:p>
        </p:txBody>
      </p:sp>
      <p:sp>
        <p:nvSpPr>
          <p:cNvPr id="34" name="Shape 32"/>
          <p:cNvSpPr/>
          <p:nvPr/>
        </p:nvSpPr>
        <p:spPr>
          <a:xfrm>
            <a:off x="6035040" y="2907792"/>
            <a:ext cx="2606040" cy="1463040"/>
          </a:xfrm>
          <a:prstGeom prst="roundRect">
            <a:avLst>
              <a:gd name="adj" fmla="val 5000"/>
            </a:avLst>
          </a:prstGeom>
          <a:solidFill>
            <a:srgbClr val="F4F6F8"/>
          </a:solidFill>
          <a:ln w="12700">
            <a:solidFill>
              <a:srgbClr val="F4F6F8"/>
            </a:solidFill>
            <a:prstDash val="solid"/>
          </a:ln>
        </p:spPr>
      </p:sp>
      <p:sp>
        <p:nvSpPr>
          <p:cNvPr id="35" name="Shape 33"/>
          <p:cNvSpPr/>
          <p:nvPr/>
        </p:nvSpPr>
        <p:spPr>
          <a:xfrm>
            <a:off x="6199632" y="3090672"/>
            <a:ext cx="384048" cy="384048"/>
          </a:xfrm>
          <a:prstGeom prst="ellipse">
            <a:avLst/>
          </a:prstGeom>
          <a:solidFill>
            <a:srgbClr val="E86A10"/>
          </a:solidFill>
          <a:ln w="12700">
            <a:solidFill>
              <a:srgbClr val="E86A10"/>
            </a:solidFill>
            <a:prstDash val="solid"/>
          </a:ln>
        </p:spPr>
      </p:sp>
      <p:sp>
        <p:nvSpPr>
          <p:cNvPr id="36" name="Text 34"/>
          <p:cNvSpPr txBox="1"/>
          <p:nvPr/>
        </p:nvSpPr>
        <p:spPr>
          <a:xfrm>
            <a:off x="6199632" y="30906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6693408" y="3072384"/>
            <a:ext cx="1828800" cy="438912"/>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Stream processing + CDC</a:t>
            </a:r>
            <a:endParaRPr lang="en-US" sz="1400" dirty="0"/>
          </a:p>
        </p:txBody>
      </p:sp>
      <p:sp>
        <p:nvSpPr>
          <p:cNvPr id="38" name="Text 36"/>
          <p:cNvSpPr txBox="1"/>
          <p:nvPr/>
        </p:nvSpPr>
        <p:spPr>
          <a:xfrm>
            <a:off x="6217920" y="3566160"/>
            <a:ext cx="2286000" cy="54864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Flink jobs; MySQL binlog and DynamoDB Streams to a data lake</a:t>
            </a:r>
            <a:endParaRPr lang="en-US" sz="1150" dirty="0"/>
          </a:p>
        </p:txBody>
      </p:sp>
      <p:sp>
        <p:nvSpPr>
          <p:cNvPr id="39" name="Text 37"/>
          <p:cNvSpPr txBox="1"/>
          <p:nvPr/>
        </p:nvSpPr>
        <p:spPr>
          <a:xfrm>
            <a:off x="6217920" y="4078224"/>
            <a:ext cx="2286000" cy="219456"/>
          </a:xfrm>
          <a:prstGeom prst="rect">
            <a:avLst/>
          </a:prstGeom>
          <a:noFill/>
          <a:ln/>
        </p:spPr>
        <p:txBody>
          <a:bodyPr wrap="square" lIns="0" tIns="0" rIns="0" bIns="0" rtlCol="0" anchor="ctr"/>
          <a:lstStyle/>
          <a:p>
            <a:pPr indent="0" marL="0">
              <a:buNone/>
            </a:pPr>
            <a:r>
              <a:rPr lang="en-US" sz="950" b="1" dirty="0">
                <a:solidFill>
                  <a:srgbClr val="2E7D4F"/>
                </a:solidFill>
                <a:latin typeface="Calibri" pitchFamily="34" charset="0"/>
                <a:ea typeface="Calibri" pitchFamily="34" charset="-122"/>
                <a:cs typeface="Calibri" pitchFamily="34" charset="-120"/>
              </a:rPr>
              <a:t>Direct evidence [31], [16]</a:t>
            </a:r>
            <a:endParaRPr lang="en-US" sz="950" dirty="0"/>
          </a:p>
        </p:txBody>
      </p:sp>
      <p:sp>
        <p:nvSpPr>
          <p:cNvPr id="40" name="Text 38"/>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Peer-to-peer: not found in any source. Swiggy is a central platform; Tile38 clones are multi-master replication, not P2P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Algorithms for scale and fault tolerance</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What Swiggy publishes, and how strong the evidence is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14600"/>
                <a:gridCol w="4526280"/>
                <a:gridCol w="118872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43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in Swiggy</a:t>
                      </a:r>
                      <a:endParaRPr lang="en-US" sz="115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433"/>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433"/>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Caching</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serviceability in-memory index, Aerospike distance cache, DAX, Redis</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2F2E8"/>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Partitioning / sharding</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DynamoDB partition keys, Kafka partitions, city split into logistic zones</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2F2E8"/>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Replication</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Kafka min in-sync replicas, failover cache cluster, multi-AZ databases</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2F2E8"/>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Timeouts, circuit breaker, rate limits</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gRPC deadlines, brownout handling, two-layer limits for IPL traffic</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2F2E8"/>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Geo-hashing + zone-wise ILP assignment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serviceability index; assignment per logistic zone</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E2F2E8"/>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Load balancing</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ALB, Kong, HAProxy; algorithm not published</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9A6700"/>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4D6"/>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Leader election</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Kafka partition leaders only</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9A6700"/>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4D6"/>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Heartbeat failure detection</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implied by failover designs; not described</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9A6700"/>
                          </a:solidFill>
                          <a:latin typeface="Calibri" pitchFamily="34" charset="0"/>
                          <a:ea typeface="Calibri" pitchFamily="34" charset="-122"/>
                          <a:cs typeface="Calibri" pitchFamily="34" charset="-120"/>
                        </a:rPr>
                        <a:t>Inference</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4D6"/>
                    </a:solidFill>
                  </a:tcPr>
                </a:tc>
              </a:tr>
              <a:tr h="329184">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Consistent hashing, gossip, vector clocks</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1100" dirty="0">
                          <a:solidFill>
                            <a:srgbClr val="1B2433"/>
                          </a:solidFill>
                          <a:latin typeface="Calibri" pitchFamily="34" charset="0"/>
                          <a:ea typeface="Calibri" pitchFamily="34" charset="-122"/>
                          <a:cs typeface="Calibri" pitchFamily="34" charset="-120"/>
                        </a:rPr>
                        <a:t>no Swiggy source found</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100" b="1" dirty="0">
                          <a:solidFill>
                            <a:srgbClr val="B3261E"/>
                          </a:solidFill>
                          <a:latin typeface="Calibri" pitchFamily="34" charset="0"/>
                          <a:ea typeface="Calibri" pitchFamily="34" charset="-122"/>
                          <a:cs typeface="Calibri" pitchFamily="34" charset="-120"/>
                        </a:rPr>
                        <a:t>Not found</a:t>
                      </a:r>
                      <a:endParaRPr lang="en-US" sz="1100" dirty="0">
                        <a:latin typeface="Calibri" charset="0"/>
                        <a:ea typeface="Calibri" charset="0"/>
                        <a:cs typeface="Calibri" charset="0"/>
                      </a:endParaRPr>
                    </a:p>
                  </a:txBody>
                  <a:tcPr marL="76200" marR="762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BE4E2"/>
                    </a:solidFill>
                  </a:tcPr>
                </a:tc>
              </a:tr>
            </a:tbl>
          </a:graphicData>
        </a:graphic>
      </p:graphicFrame>
      <p:sp>
        <p:nvSpPr>
          <p:cNvPr id="5" name="Text 2"/>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Details and quotes: ParadigmsandAlgorithms_23MCCE11, sections 4-5. Sources [1], [2], [11], [15], [18]-[22],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MiniSwiggy: the simplified design</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Raw TCP sockets, Java 17, zero dependencies</a:t>
            </a:r>
            <a:endParaRPr lang="en-US" sz="1300" dirty="0"/>
          </a:p>
        </p:txBody>
      </p:sp>
      <p:pic>
        <p:nvPicPr>
          <p:cNvPr id="4" name="Image 0" descr="MiniSwiggy architecture">    </p:cNvPr>
          <p:cNvPicPr>
            <a:picLocks noChangeAspect="1"/>
          </p:cNvPicPr>
          <p:nvPr/>
        </p:nvPicPr>
        <p:blipFill>
          <a:blip r:embed="rId1"/>
          <a:stretch>
            <a:fillRect/>
          </a:stretch>
        </p:blipFill>
        <p:spPr>
          <a:xfrm>
            <a:off x="3749040" y="1406732"/>
            <a:ext cx="5029200" cy="3038696"/>
          </a:xfrm>
          <a:prstGeom prst="rect">
            <a:avLst/>
          </a:prstGeom>
        </p:spPr>
      </p:pic>
      <p:sp>
        <p:nvSpPr>
          <p:cNvPr id="5" name="Text 2"/>
          <p:cNvSpPr txBox="1"/>
          <p:nvPr/>
        </p:nvSpPr>
        <p:spPr>
          <a:xfrm>
            <a:off x="457200" y="1234440"/>
            <a:ext cx="3108960" cy="640080"/>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Kept</a:t>
            </a:r>
            <a:endParaRPr lang="en-US" sz="1250" dirty="0"/>
          </a:p>
          <a:p>
            <a:pPr indent="0" marL="0">
              <a:buNone/>
            </a:pPr>
            <a:r>
              <a:rPr lang="en-US" sz="1250" dirty="0">
                <a:solidFill>
                  <a:srgbClr val="1B2433"/>
                </a:solidFill>
                <a:latin typeface="Calibri" pitchFamily="34" charset="0"/>
                <a:ea typeface="Calibri" pitchFamily="34" charset="-122"/>
                <a:cs typeface="Calibri" pitchFamily="34" charset="-120"/>
              </a:rPr>
              <a:t>3 client roles, full order life cycle, live tracking</a:t>
            </a:r>
            <a:endParaRPr lang="en-US" sz="1250" dirty="0"/>
          </a:p>
        </p:txBody>
      </p:sp>
      <p:sp>
        <p:nvSpPr>
          <p:cNvPr id="6" name="Text 3"/>
          <p:cNvSpPr txBox="1"/>
          <p:nvPr/>
        </p:nvSpPr>
        <p:spPr>
          <a:xfrm>
            <a:off x="457200" y="1938528"/>
            <a:ext cx="3108960" cy="640080"/>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Gateway</a:t>
            </a:r>
            <a:endParaRPr lang="en-US" sz="1250" dirty="0"/>
          </a:p>
          <a:p>
            <a:pPr indent="0" marL="0">
              <a:buNone/>
            </a:pPr>
            <a:r>
              <a:rPr lang="en-US" sz="1250" dirty="0">
                <a:solidFill>
                  <a:srgbClr val="1B2433"/>
                </a:solidFill>
                <a:latin typeface="Calibri" pitchFamily="34" charset="0"/>
                <a:ea typeface="Calibri" pitchFamily="34" charset="-122"/>
                <a:cs typeface="Calibri" pitchFamily="34" charset="-120"/>
              </a:rPr>
              <a:t>one entry point: load balancer, failure detector, pub/sub broker</a:t>
            </a:r>
            <a:endParaRPr lang="en-US" sz="1250" dirty="0"/>
          </a:p>
        </p:txBody>
      </p:sp>
      <p:sp>
        <p:nvSpPr>
          <p:cNvPr id="7" name="Text 4"/>
          <p:cNvSpPr txBox="1"/>
          <p:nvPr/>
        </p:nvSpPr>
        <p:spPr>
          <a:xfrm>
            <a:off x="457200" y="2642616"/>
            <a:ext cx="3108960" cy="640080"/>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2 order nodes</a:t>
            </a:r>
            <a:endParaRPr lang="en-US" sz="1250" dirty="0"/>
          </a:p>
          <a:p>
            <a:pPr indent="0" marL="0">
              <a:buNone/>
            </a:pPr>
            <a:r>
              <a:rPr lang="en-US" sz="1250" dirty="0">
                <a:solidFill>
                  <a:srgbClr val="1B2433"/>
                </a:solidFill>
                <a:latin typeface="Calibri" pitchFamily="34" charset="0"/>
                <a:ea typeface="Calibri" pitchFamily="34" charset="-122"/>
                <a:cs typeface="Calibri" pitchFamily="34" charset="-120"/>
              </a:rPr>
              <a:t>in-memory store, primary + backup</a:t>
            </a:r>
            <a:endParaRPr lang="en-US" sz="1250" dirty="0"/>
          </a:p>
        </p:txBody>
      </p:sp>
      <p:sp>
        <p:nvSpPr>
          <p:cNvPr id="8" name="Text 5"/>
          <p:cNvSpPr txBox="1"/>
          <p:nvPr/>
        </p:nvSpPr>
        <p:spPr>
          <a:xfrm>
            <a:off x="457200" y="3346704"/>
            <a:ext cx="3108960" cy="640080"/>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Dropped</a:t>
            </a:r>
            <a:endParaRPr lang="en-US" sz="1250" dirty="0"/>
          </a:p>
          <a:p>
            <a:pPr indent="0" marL="0">
              <a:buNone/>
            </a:pPr>
            <a:r>
              <a:rPr lang="en-US" sz="1250" dirty="0">
                <a:solidFill>
                  <a:srgbClr val="1B2433"/>
                </a:solidFill>
                <a:latin typeface="Calibri" pitchFamily="34" charset="0"/>
                <a:ea typeface="Calibri" pitchFamily="34" charset="-122"/>
                <a:cs typeface="Calibri" pitchFamily="34" charset="-120"/>
              </a:rPr>
              <a:t>payments, maps, ETA, disk storage, login</a:t>
            </a:r>
            <a:endParaRPr lang="en-US" sz="1250" dirty="0"/>
          </a:p>
        </p:txBody>
      </p:sp>
      <p:sp>
        <p:nvSpPr>
          <p:cNvPr id="9" name="Text 6"/>
          <p:cNvSpPr txBox="1"/>
          <p:nvPr/>
        </p:nvSpPr>
        <p:spPr>
          <a:xfrm>
            <a:off x="457200" y="4050792"/>
            <a:ext cx="3108960" cy="640080"/>
          </a:xfrm>
          <a:prstGeom prst="rect">
            <a:avLst/>
          </a:prstGeom>
          <a:noFill/>
          <a:ln/>
        </p:spPr>
        <p:txBody>
          <a:bodyPr wrap="square" lIns="0" tIns="0" rIns="0" bIns="0" rtlCol="0" anchor="t"/>
          <a:lstStyle/>
          <a:p>
            <a:pPr indent="0" marL="0">
              <a:buNone/>
            </a:pPr>
            <a:r>
              <a:rPr lang="en-US" sz="1250" b="1" dirty="0">
                <a:solidFill>
                  <a:srgbClr val="E86A10"/>
                </a:solidFill>
                <a:latin typeface="Calibri" pitchFamily="34" charset="0"/>
                <a:ea typeface="Calibri" pitchFamily="34" charset="-122"/>
                <a:cs typeface="Calibri" pitchFamily="34" charset="-120"/>
              </a:rPr>
              <a:t>Size</a:t>
            </a:r>
            <a:endParaRPr lang="en-US" sz="1250" dirty="0"/>
          </a:p>
          <a:p>
            <a:pPr indent="0" marL="0">
              <a:buNone/>
            </a:pPr>
            <a:r>
              <a:rPr lang="en-US" sz="1250" dirty="0">
                <a:solidFill>
                  <a:srgbClr val="1B2433"/>
                </a:solidFill>
                <a:latin typeface="Calibri" pitchFamily="34" charset="0"/>
                <a:ea typeface="Calibri" pitchFamily="34" charset="-122"/>
                <a:cs typeface="Calibri" pitchFamily="34" charset="-120"/>
              </a:rPr>
              <a:t>20 source files (about 2,700 lines) plus a 460-line test suite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Protocol: one line of text per message</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TYPE|key=value|key=value   (values URL-encoded)</a:t>
            </a:r>
            <a:endParaRPr lang="en-US" sz="1300" dirty="0"/>
          </a:p>
        </p:txBody>
      </p:sp>
      <p:sp>
        <p:nvSpPr>
          <p:cNvPr id="4" name="Shape 2"/>
          <p:cNvSpPr/>
          <p:nvPr/>
        </p:nvSpPr>
        <p:spPr>
          <a:xfrm>
            <a:off x="457200" y="1234440"/>
            <a:ext cx="5120640" cy="3383280"/>
          </a:xfrm>
          <a:prstGeom prst="roundRect">
            <a:avLst>
              <a:gd name="adj" fmla="val 2162"/>
            </a:avLst>
          </a:prstGeom>
          <a:solidFill>
            <a:srgbClr val="1E1E1E"/>
          </a:solidFill>
          <a:ln w="12700">
            <a:solidFill>
              <a:srgbClr val="1E1E1E"/>
            </a:solidFill>
            <a:prstDash val="solid"/>
          </a:ln>
        </p:spPr>
      </p:sp>
      <p:sp>
        <p:nvSpPr>
          <p:cNvPr id="5" name="Text 3"/>
          <p:cNvSpPr txBox="1"/>
          <p:nvPr/>
        </p:nvSpPr>
        <p:spPr>
          <a:xfrm>
            <a:off x="640080" y="1371600"/>
            <a:ext cx="4846320" cy="2743200"/>
          </a:xfrm>
          <a:prstGeom prst="rect">
            <a:avLst/>
          </a:prstGeom>
          <a:noFill/>
          <a:ln/>
        </p:spPr>
        <p:txBody>
          <a:bodyPr wrap="square" lIns="0" tIns="0" rIns="0" bIns="0" rtlCol="0" anchor="t"/>
          <a:lstStyle/>
          <a:p>
            <a:pPr indent="0" marL="0">
              <a:buNone/>
            </a:pPr>
            <a:r>
              <a:rPr lang="en-US" sz="1200" dirty="0">
                <a:solidFill>
                  <a:srgbClr val="F0C674"/>
                </a:solidFill>
                <a:latin typeface="Consolas" pitchFamily="34" charset="0"/>
                <a:ea typeface="Consolas" pitchFamily="34" charset="-122"/>
                <a:cs typeface="Consolas" pitchFamily="34" charset="-120"/>
              </a:rPr>
              <a:t>&gt;&gt; HELLO|role=CUSTOMER|id=RAW1|reqId=2</a:t>
            </a:r>
            <a:endParaRPr lang="en-US" sz="1200" dirty="0"/>
          </a:p>
          <a:p>
            <a:pPr indent="0" marL="0">
              <a:buNone/>
            </a:pPr>
            <a:r>
              <a:rPr lang="en-US" sz="1200" dirty="0">
                <a:solidFill>
                  <a:srgbClr val="CCCCCC"/>
                </a:solidFill>
                <a:latin typeface="Consolas" pitchFamily="34" charset="0"/>
                <a:ea typeface="Consolas" pitchFamily="34" charset="-122"/>
                <a:cs typeface="Consolas" pitchFamily="34" charset="-120"/>
              </a:rPr>
              <a:t>&lt;&lt; OK|reqId=2</a:t>
            </a:r>
            <a:endParaRPr lang="en-US" sz="1200" dirty="0"/>
          </a:p>
          <a:p>
            <a:pPr indent="0" marL="0">
              <a:buNone/>
            </a:pPr>
            <a:r>
              <a:rPr lang="en-US" sz="1200" dirty="0">
                <a:solidFill>
                  <a:srgbClr val="F0C674"/>
                </a:solidFill>
                <a:latin typeface="Consolas" pitchFamily="34" charset="0"/>
                <a:ea typeface="Consolas" pitchFamily="34" charset="-122"/>
                <a:cs typeface="Consolas" pitchFamily="34" charset="-120"/>
              </a:rPr>
              <a:t>&gt;&gt; PLACE_ORDER|restaurant=R2|items=R2-M1x1%2C</a:t>
            </a:r>
            <a:endParaRPr lang="en-US" sz="1200" dirty="0"/>
          </a:p>
          <a:p>
            <a:pPr indent="0" marL="0">
              <a:buNone/>
            </a:pPr>
            <a:r>
              <a:rPr lang="en-US" sz="1200" dirty="0">
                <a:solidFill>
                  <a:srgbClr val="F0C674"/>
                </a:solidFill>
                <a:latin typeface="Consolas" pitchFamily="34" charset="0"/>
                <a:ea typeface="Consolas" pitchFamily="34" charset="-122"/>
                <a:cs typeface="Consolas" pitchFamily="34" charset="-120"/>
              </a:rPr>
              <a:t>   R2-M3x1|reqId=4</a:t>
            </a:r>
            <a:endParaRPr lang="en-US" sz="1200" dirty="0"/>
          </a:p>
          <a:p>
            <a:pPr indent="0" marL="0">
              <a:buNone/>
            </a:pPr>
            <a:r>
              <a:rPr lang="en-US" sz="1200" dirty="0">
                <a:solidFill>
                  <a:srgbClr val="C792EA"/>
                </a:solidFill>
                <a:latin typeface="Consolas" pitchFamily="34" charset="0"/>
                <a:ea typeface="Consolas" pitchFamily="34" charset="-122"/>
                <a:cs typeface="Consolas" pitchFamily="34" charset="-120"/>
              </a:rPr>
              <a:t>&lt;&lt; EVENT|event=PLACED|orderId=O-1|seq=1|...</a:t>
            </a:r>
            <a:endParaRPr lang="en-US" sz="1200" dirty="0"/>
          </a:p>
          <a:p>
            <a:pPr indent="0" marL="0">
              <a:buNone/>
            </a:pPr>
            <a:r>
              <a:rPr lang="en-US" sz="1200" dirty="0">
                <a:solidFill>
                  <a:srgbClr val="CCCCCC"/>
                </a:solidFill>
                <a:latin typeface="Consolas" pitchFamily="34" charset="0"/>
                <a:ea typeface="Consolas" pitchFamily="34" charset="-122"/>
                <a:cs typeface="Consolas" pitchFamily="34" charset="-120"/>
              </a:rPr>
              <a:t>&lt;&lt; OK|servedBy=N1|role=PRIMARY|orderId=O-1|</a:t>
            </a:r>
            <a:endParaRPr lang="en-US" sz="1200" dirty="0"/>
          </a:p>
          <a:p>
            <a:pPr indent="0" marL="0">
              <a:buNone/>
            </a:pPr>
            <a:r>
              <a:rPr lang="en-US" sz="1200" dirty="0">
                <a:solidFill>
                  <a:srgbClr val="CCCCCC"/>
                </a:solidFill>
                <a:latin typeface="Consolas" pitchFamily="34" charset="0"/>
                <a:ea typeface="Consolas" pitchFamily="34" charset="-122"/>
                <a:cs typeface="Consolas" pitchFamily="34" charset="-120"/>
              </a:rPr>
              <a:t>   version=1|...|reqId=4</a:t>
            </a:r>
            <a:endParaRPr lang="en-US" sz="1200" dirty="0"/>
          </a:p>
          <a:p>
            <a:pPr indent="0" marL="0">
              <a:buNone/>
            </a:pPr>
            <a:r>
              <a:rPr lang="en-US" sz="1200" dirty="0">
                <a:solidFill>
                  <a:srgbClr val="F0C674"/>
                </a:solidFill>
                <a:latin typeface="Consolas" pitchFamily="34" charset="0"/>
                <a:ea typeface="Consolas" pitchFamily="34" charset="-122"/>
                <a:cs typeface="Consolas" pitchFamily="34" charset="-120"/>
              </a:rPr>
              <a:t>&gt;&gt; UPDATE_STATUS|orderId=O-1|status=DELIVERED|</a:t>
            </a:r>
            <a:endParaRPr lang="en-US" sz="1200" dirty="0"/>
          </a:p>
          <a:p>
            <a:pPr indent="0" marL="0">
              <a:buNone/>
            </a:pPr>
            <a:r>
              <a:rPr lang="en-US" sz="1200" dirty="0">
                <a:solidFill>
                  <a:srgbClr val="F0C674"/>
                </a:solidFill>
                <a:latin typeface="Consolas" pitchFamily="34" charset="0"/>
                <a:ea typeface="Consolas" pitchFamily="34" charset="-122"/>
                <a:cs typeface="Consolas" pitchFamily="34" charset="-120"/>
              </a:rPr>
              <a:t>   reqId=5</a:t>
            </a:r>
            <a:endParaRPr lang="en-US" sz="1200" dirty="0"/>
          </a:p>
          <a:p>
            <a:pPr indent="0" marL="0">
              <a:buNone/>
            </a:pPr>
            <a:r>
              <a:rPr lang="en-US" sz="1200" dirty="0">
                <a:solidFill>
                  <a:srgbClr val="FF8A80"/>
                </a:solidFill>
                <a:latin typeface="Consolas" pitchFamily="34" charset="0"/>
                <a:ea typeface="Consolas" pitchFamily="34" charset="-122"/>
                <a:cs typeface="Consolas" pitchFamily="34" charset="-120"/>
              </a:rPr>
              <a:t>&lt;&lt; ERROR|code=INVALID_TRANSITION|...|reqId=5</a:t>
            </a:r>
            <a:endParaRPr lang="en-US" sz="1200" dirty="0"/>
          </a:p>
        </p:txBody>
      </p:sp>
      <p:sp>
        <p:nvSpPr>
          <p:cNvPr id="6" name="Text 4"/>
          <p:cNvSpPr txBox="1"/>
          <p:nvPr/>
        </p:nvSpPr>
        <p:spPr>
          <a:xfrm>
            <a:off x="640080" y="4206240"/>
            <a:ext cx="4846320" cy="274320"/>
          </a:xfrm>
          <a:prstGeom prst="rect">
            <a:avLst/>
          </a:prstGeom>
          <a:noFill/>
          <a:ln/>
        </p:spPr>
        <p:txBody>
          <a:bodyPr wrap="square" lIns="0" tIns="0" rIns="0" bIns="0" rtlCol="0" anchor="ctr"/>
          <a:lstStyle/>
          <a:p>
            <a:pPr indent="0" marL="0">
              <a:buNone/>
            </a:pPr>
            <a:r>
              <a:rPr lang="en-US" sz="1100" i="1" dirty="0">
                <a:solidFill>
                  <a:srgbClr val="9AA5B4"/>
                </a:solidFill>
                <a:latin typeface="Calibri" pitchFamily="34" charset="0"/>
                <a:ea typeface="Calibri" pitchFamily="34" charset="-122"/>
                <a:cs typeface="Calibri" pitchFamily="34" charset="-120"/>
              </a:rPr>
              <a:t>&gt;&gt; sent by the client     &lt;&lt; received from the gateway</a:t>
            </a:r>
            <a:endParaRPr lang="en-US" sz="1100" dirty="0"/>
          </a:p>
        </p:txBody>
      </p:sp>
      <p:sp>
        <p:nvSpPr>
          <p:cNvPr id="7" name="Shape 5"/>
          <p:cNvSpPr/>
          <p:nvPr/>
        </p:nvSpPr>
        <p:spPr>
          <a:xfrm>
            <a:off x="5806440" y="1234440"/>
            <a:ext cx="2880360" cy="1024128"/>
          </a:xfrm>
          <a:prstGeom prst="roundRect">
            <a:avLst>
              <a:gd name="adj" fmla="val 7143"/>
            </a:avLst>
          </a:prstGeom>
          <a:solidFill>
            <a:srgbClr val="FDF1E7"/>
          </a:solidFill>
          <a:ln w="12700">
            <a:solidFill>
              <a:srgbClr val="FDF1E7"/>
            </a:solidFill>
            <a:prstDash val="solid"/>
          </a:ln>
        </p:spPr>
      </p:sp>
      <p:sp>
        <p:nvSpPr>
          <p:cNvPr id="8" name="Text 6"/>
          <p:cNvSpPr txBox="1"/>
          <p:nvPr/>
        </p:nvSpPr>
        <p:spPr>
          <a:xfrm>
            <a:off x="5943600" y="1307592"/>
            <a:ext cx="2651760" cy="896112"/>
          </a:xfrm>
          <a:prstGeom prst="rect">
            <a:avLst/>
          </a:prstGeom>
          <a:noFill/>
          <a:ln/>
        </p:spPr>
        <p:txBody>
          <a:bodyPr wrap="square" lIns="0" tIns="0" rIns="0" bIns="0" rtlCol="0" anchor="t"/>
          <a:lstStyle/>
          <a:p>
            <a:pPr indent="0" marL="0">
              <a:buNone/>
            </a:pPr>
            <a:r>
              <a:rPr lang="en-US" sz="1150" b="1" dirty="0">
                <a:solidFill>
                  <a:srgbClr val="E86A10"/>
                </a:solidFill>
                <a:latin typeface="Calibri" pitchFamily="34" charset="0"/>
                <a:ea typeface="Calibri" pitchFamily="34" charset="-122"/>
                <a:cs typeface="Calibri" pitchFamily="34" charset="-120"/>
              </a:rPr>
              <a:t>Reads</a:t>
            </a:r>
            <a:endParaRPr lang="en-US" sz="1150" dirty="0"/>
          </a:p>
          <a:p>
            <a:pPr indent="0" marL="0">
              <a:buNone/>
            </a:pPr>
            <a:r>
              <a:rPr lang="en-US" sz="1150" dirty="0">
                <a:solidFill>
                  <a:srgbClr val="1B2433"/>
                </a:solidFill>
                <a:latin typeface="Calibri" pitchFamily="34" charset="0"/>
                <a:ea typeface="Calibri" pitchFamily="34" charset="-122"/>
                <a:cs typeface="Calibri" pitchFamily="34" charset="-120"/>
              </a:rPr>
              <a:t>LIST_RESTAURANTS, GET_MENU, GET_ORDER, LIST_ORDERS go to any live node, round-robin</a:t>
            </a:r>
            <a:endParaRPr lang="en-US" sz="1150" dirty="0"/>
          </a:p>
        </p:txBody>
      </p:sp>
      <p:sp>
        <p:nvSpPr>
          <p:cNvPr id="9" name="Shape 7"/>
          <p:cNvSpPr/>
          <p:nvPr/>
        </p:nvSpPr>
        <p:spPr>
          <a:xfrm>
            <a:off x="5806440" y="2377440"/>
            <a:ext cx="2880360" cy="1024128"/>
          </a:xfrm>
          <a:prstGeom prst="roundRect">
            <a:avLst>
              <a:gd name="adj" fmla="val 7143"/>
            </a:avLst>
          </a:prstGeom>
          <a:solidFill>
            <a:srgbClr val="FDF1E7"/>
          </a:solidFill>
          <a:ln w="12700">
            <a:solidFill>
              <a:srgbClr val="FDF1E7"/>
            </a:solidFill>
            <a:prstDash val="solid"/>
          </a:ln>
        </p:spPr>
      </p:sp>
      <p:sp>
        <p:nvSpPr>
          <p:cNvPr id="10" name="Text 8"/>
          <p:cNvSpPr txBox="1"/>
          <p:nvPr/>
        </p:nvSpPr>
        <p:spPr>
          <a:xfrm>
            <a:off x="5943600" y="2450592"/>
            <a:ext cx="2651760" cy="896112"/>
          </a:xfrm>
          <a:prstGeom prst="rect">
            <a:avLst/>
          </a:prstGeom>
          <a:noFill/>
          <a:ln/>
        </p:spPr>
        <p:txBody>
          <a:bodyPr wrap="square" lIns="0" tIns="0" rIns="0" bIns="0" rtlCol="0" anchor="t"/>
          <a:lstStyle/>
          <a:p>
            <a:pPr indent="0" marL="0">
              <a:buNone/>
            </a:pPr>
            <a:r>
              <a:rPr lang="en-US" sz="1150" b="1" dirty="0">
                <a:solidFill>
                  <a:srgbClr val="E86A10"/>
                </a:solidFill>
                <a:latin typeface="Calibri" pitchFamily="34" charset="0"/>
                <a:ea typeface="Calibri" pitchFamily="34" charset="-122"/>
                <a:cs typeface="Calibri" pitchFamily="34" charset="-120"/>
              </a:rPr>
              <a:t>Writes</a:t>
            </a:r>
            <a:endParaRPr lang="en-US" sz="1150" dirty="0"/>
          </a:p>
          <a:p>
            <a:pPr indent="0" marL="0">
              <a:buNone/>
            </a:pPr>
            <a:r>
              <a:rPr lang="en-US" sz="1150" dirty="0">
                <a:solidFill>
                  <a:srgbClr val="1B2433"/>
                </a:solidFill>
                <a:latin typeface="Calibri" pitchFamily="34" charset="0"/>
                <a:ea typeface="Calibri" pitchFamily="34" charset="-122"/>
                <a:cs typeface="Calibri" pitchFamily="34" charset="-120"/>
              </a:rPr>
              <a:t>PLACE_ORDER, UPDATE_STATUS, CLAIM_ORDER go only to the primary</a:t>
            </a:r>
            <a:endParaRPr lang="en-US" sz="1150" dirty="0"/>
          </a:p>
        </p:txBody>
      </p:sp>
      <p:sp>
        <p:nvSpPr>
          <p:cNvPr id="11" name="Shape 9"/>
          <p:cNvSpPr/>
          <p:nvPr/>
        </p:nvSpPr>
        <p:spPr>
          <a:xfrm>
            <a:off x="5806440" y="3520440"/>
            <a:ext cx="2880360" cy="1024128"/>
          </a:xfrm>
          <a:prstGeom prst="roundRect">
            <a:avLst>
              <a:gd name="adj" fmla="val 7143"/>
            </a:avLst>
          </a:prstGeom>
          <a:solidFill>
            <a:srgbClr val="FDF1E7"/>
          </a:solidFill>
          <a:ln w="12700">
            <a:solidFill>
              <a:srgbClr val="FDF1E7"/>
            </a:solidFill>
            <a:prstDash val="solid"/>
          </a:ln>
        </p:spPr>
      </p:sp>
      <p:sp>
        <p:nvSpPr>
          <p:cNvPr id="12" name="Text 10"/>
          <p:cNvSpPr txBox="1"/>
          <p:nvPr/>
        </p:nvSpPr>
        <p:spPr>
          <a:xfrm>
            <a:off x="5943600" y="3593592"/>
            <a:ext cx="2651760" cy="896112"/>
          </a:xfrm>
          <a:prstGeom prst="rect">
            <a:avLst/>
          </a:prstGeom>
          <a:noFill/>
          <a:ln/>
        </p:spPr>
        <p:txBody>
          <a:bodyPr wrap="square" lIns="0" tIns="0" rIns="0" bIns="0" rtlCol="0" anchor="t"/>
          <a:lstStyle/>
          <a:p>
            <a:pPr indent="0" marL="0">
              <a:buNone/>
            </a:pPr>
            <a:r>
              <a:rPr lang="en-US" sz="1150" b="1" dirty="0">
                <a:solidFill>
                  <a:srgbClr val="E86A10"/>
                </a:solidFill>
                <a:latin typeface="Calibri" pitchFamily="34" charset="0"/>
                <a:ea typeface="Calibri" pitchFamily="34" charset="-122"/>
                <a:cs typeface="Calibri" pitchFamily="34" charset="-120"/>
              </a:rPr>
              <a:t>Push</a:t>
            </a:r>
            <a:endParaRPr lang="en-US" sz="1150" dirty="0"/>
          </a:p>
          <a:p>
            <a:pPr indent="0" marL="0">
              <a:buNone/>
            </a:pPr>
            <a:r>
              <a:rPr lang="en-US" sz="1150" dirty="0">
                <a:solidFill>
                  <a:srgbClr val="1B2433"/>
                </a:solidFill>
                <a:latin typeface="Calibri" pitchFamily="34" charset="0"/>
                <a:ea typeface="Calibri" pitchFamily="34" charset="-122"/>
                <a:cs typeface="Calibri" pitchFamily="34" charset="-120"/>
              </a:rPr>
              <a:t>EVENT has no reqId, so one socket can carry replies and pushed updates</a:t>
            </a:r>
            <a:endParaRPr lang="en-US" sz="1150" dirty="0"/>
          </a:p>
        </p:txBody>
      </p:sp>
      <p:sp>
        <p:nvSpPr>
          <p:cNvPr id="13" name="Text 11"/>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Captured from a real raw-TCP session with the gateway (logs/raw-protocol.txt), shortened.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Five distributed concepts, running in code</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Each one has an automated test and a demo step</a:t>
            </a:r>
            <a:endParaRPr lang="en-US" sz="1300" dirty="0"/>
          </a:p>
        </p:txBody>
      </p:sp>
      <p:sp>
        <p:nvSpPr>
          <p:cNvPr id="4" name="Shape 2"/>
          <p:cNvSpPr/>
          <p:nvPr/>
        </p:nvSpPr>
        <p:spPr>
          <a:xfrm>
            <a:off x="457200" y="1271016"/>
            <a:ext cx="438912" cy="438912"/>
          </a:xfrm>
          <a:prstGeom prst="ellipse">
            <a:avLst/>
          </a:prstGeom>
          <a:solidFill>
            <a:srgbClr val="E86A10"/>
          </a:solidFill>
          <a:ln w="12700">
            <a:solidFill>
              <a:srgbClr val="E86A10"/>
            </a:solidFill>
            <a:prstDash val="solid"/>
          </a:ln>
        </p:spPr>
      </p:sp>
      <p:sp>
        <p:nvSpPr>
          <p:cNvPr id="5" name="Text 3"/>
          <p:cNvSpPr txBox="1"/>
          <p:nvPr/>
        </p:nvSpPr>
        <p:spPr>
          <a:xfrm>
            <a:off x="457200" y="1271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51560" y="1216152"/>
            <a:ext cx="2377440" cy="548640"/>
          </a:xfrm>
          <a:prstGeom prst="rect">
            <a:avLst/>
          </a:prstGeom>
          <a:noFill/>
          <a:ln/>
        </p:spPr>
        <p:txBody>
          <a:bodyPr wrap="square" lIns="0" tIns="0" rIns="0" bIns="0" rtlCol="0" anchor="ctr"/>
          <a:lstStyle/>
          <a:p>
            <a:pPr indent="0" marL="0">
              <a:buNone/>
            </a:pPr>
            <a:r>
              <a:rPr lang="en-US" sz="1350" b="1" dirty="0">
                <a:solidFill>
                  <a:srgbClr val="1B2433"/>
                </a:solidFill>
                <a:latin typeface="Calibri" pitchFamily="34" charset="0"/>
                <a:ea typeface="Calibri" pitchFamily="34" charset="-122"/>
                <a:cs typeface="Calibri" pitchFamily="34" charset="-120"/>
              </a:rPr>
              <a:t>Round-robin load balancing</a:t>
            </a:r>
            <a:endParaRPr lang="en-US" sz="1350" dirty="0"/>
          </a:p>
        </p:txBody>
      </p:sp>
      <p:sp>
        <p:nvSpPr>
          <p:cNvPr id="7" name="Text 5"/>
          <p:cNvSpPr txBox="1"/>
          <p:nvPr/>
        </p:nvSpPr>
        <p:spPr>
          <a:xfrm>
            <a:off x="3474720" y="1216152"/>
            <a:ext cx="3566160" cy="548640"/>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Gateway spreads reads over live nodes; skips a failed node</a:t>
            </a:r>
            <a:endParaRPr lang="en-US" sz="1150" dirty="0"/>
          </a:p>
        </p:txBody>
      </p:sp>
      <p:sp>
        <p:nvSpPr>
          <p:cNvPr id="8" name="Text 6"/>
          <p:cNvSpPr txBox="1"/>
          <p:nvPr/>
        </p:nvSpPr>
        <p:spPr>
          <a:xfrm>
            <a:off x="7132320" y="1216152"/>
            <a:ext cx="1600200" cy="548640"/>
          </a:xfrm>
          <a:prstGeom prst="rect">
            <a:avLst/>
          </a:prstGeom>
          <a:noFill/>
          <a:ln/>
        </p:spPr>
        <p:txBody>
          <a:bodyPr wrap="square" lIns="0" tIns="0" rIns="0" bIns="0" rtlCol="0" anchor="ctr"/>
          <a:lstStyle/>
          <a:p>
            <a:pPr indent="0" marL="0">
              <a:buNone/>
            </a:pPr>
            <a:r>
              <a:rPr lang="en-US" sz="950" dirty="0">
                <a:solidFill>
                  <a:srgbClr val="E86A10"/>
                </a:solidFill>
                <a:latin typeface="Consolas" pitchFamily="34" charset="0"/>
                <a:ea typeface="Consolas" pitchFamily="34" charset="-122"/>
                <a:cs typeface="Consolas" pitchFamily="34" charset="-120"/>
              </a:rPr>
              <a:t>Gateway.forwardRead</a:t>
            </a:r>
            <a:endParaRPr lang="en-US" sz="950" dirty="0"/>
          </a:p>
        </p:txBody>
      </p:sp>
      <p:sp>
        <p:nvSpPr>
          <p:cNvPr id="9" name="Shape 7"/>
          <p:cNvSpPr/>
          <p:nvPr/>
        </p:nvSpPr>
        <p:spPr>
          <a:xfrm>
            <a:off x="457200" y="1911096"/>
            <a:ext cx="438912" cy="438912"/>
          </a:xfrm>
          <a:prstGeom prst="ellipse">
            <a:avLst/>
          </a:prstGeom>
          <a:solidFill>
            <a:srgbClr val="E86A10"/>
          </a:solidFill>
          <a:ln w="12700">
            <a:solidFill>
              <a:srgbClr val="E86A10"/>
            </a:solidFill>
            <a:prstDash val="solid"/>
          </a:ln>
        </p:spPr>
      </p:sp>
      <p:sp>
        <p:nvSpPr>
          <p:cNvPr id="10" name="Text 8"/>
          <p:cNvSpPr txBox="1"/>
          <p:nvPr/>
        </p:nvSpPr>
        <p:spPr>
          <a:xfrm>
            <a:off x="457200" y="191109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51560" y="1856232"/>
            <a:ext cx="2377440" cy="548640"/>
          </a:xfrm>
          <a:prstGeom prst="rect">
            <a:avLst/>
          </a:prstGeom>
          <a:noFill/>
          <a:ln/>
        </p:spPr>
        <p:txBody>
          <a:bodyPr wrap="square" lIns="0" tIns="0" rIns="0" bIns="0" rtlCol="0" anchor="ctr"/>
          <a:lstStyle/>
          <a:p>
            <a:pPr indent="0" marL="0">
              <a:buNone/>
            </a:pPr>
            <a:r>
              <a:rPr lang="en-US" sz="1350" b="1" dirty="0">
                <a:solidFill>
                  <a:srgbClr val="1B2433"/>
                </a:solidFill>
                <a:latin typeface="Calibri" pitchFamily="34" charset="0"/>
                <a:ea typeface="Calibri" pitchFamily="34" charset="-122"/>
                <a:cs typeface="Calibri" pitchFamily="34" charset="-120"/>
              </a:rPr>
              <a:t>Primary-backup replication</a:t>
            </a:r>
            <a:endParaRPr lang="en-US" sz="1350" dirty="0"/>
          </a:p>
        </p:txBody>
      </p:sp>
      <p:sp>
        <p:nvSpPr>
          <p:cNvPr id="12" name="Text 10"/>
          <p:cNvSpPr txBox="1"/>
          <p:nvPr/>
        </p:nvSpPr>
        <p:spPr>
          <a:xfrm>
            <a:off x="3474720" y="1856232"/>
            <a:ext cx="3566160" cy="548640"/>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Primary copies each write to the backup before it commits and replies</a:t>
            </a:r>
            <a:endParaRPr lang="en-US" sz="1150" dirty="0"/>
          </a:p>
        </p:txBody>
      </p:sp>
      <p:sp>
        <p:nvSpPr>
          <p:cNvPr id="13" name="Text 11"/>
          <p:cNvSpPr txBox="1"/>
          <p:nvPr/>
        </p:nvSpPr>
        <p:spPr>
          <a:xfrm>
            <a:off x="7132320" y="1856232"/>
            <a:ext cx="1600200" cy="548640"/>
          </a:xfrm>
          <a:prstGeom prst="rect">
            <a:avLst/>
          </a:prstGeom>
          <a:noFill/>
          <a:ln/>
        </p:spPr>
        <p:txBody>
          <a:bodyPr wrap="square" lIns="0" tIns="0" rIns="0" bIns="0" rtlCol="0" anchor="ctr"/>
          <a:lstStyle/>
          <a:p>
            <a:pPr indent="0" marL="0">
              <a:buNone/>
            </a:pPr>
            <a:r>
              <a:rPr lang="en-US" sz="950" dirty="0">
                <a:solidFill>
                  <a:srgbClr val="E86A10"/>
                </a:solidFill>
                <a:latin typeface="Consolas" pitchFamily="34" charset="0"/>
                <a:ea typeface="Consolas" pitchFamily="34" charset="-122"/>
                <a:cs typeface="Consolas" pitchFamily="34" charset="-120"/>
              </a:rPr>
              <a:t>OrderNode.replicate</a:t>
            </a:r>
            <a:endParaRPr lang="en-US" sz="950" dirty="0"/>
          </a:p>
        </p:txBody>
      </p:sp>
      <p:sp>
        <p:nvSpPr>
          <p:cNvPr id="14" name="Shape 12"/>
          <p:cNvSpPr/>
          <p:nvPr/>
        </p:nvSpPr>
        <p:spPr>
          <a:xfrm>
            <a:off x="457200" y="2551176"/>
            <a:ext cx="438912" cy="438912"/>
          </a:xfrm>
          <a:prstGeom prst="ellipse">
            <a:avLst/>
          </a:prstGeom>
          <a:solidFill>
            <a:srgbClr val="E86A10"/>
          </a:solidFill>
          <a:ln w="12700">
            <a:solidFill>
              <a:srgbClr val="E86A10"/>
            </a:solidFill>
            <a:prstDash val="solid"/>
          </a:ln>
        </p:spPr>
      </p:sp>
      <p:sp>
        <p:nvSpPr>
          <p:cNvPr id="15" name="Text 13"/>
          <p:cNvSpPr txBox="1"/>
          <p:nvPr/>
        </p:nvSpPr>
        <p:spPr>
          <a:xfrm>
            <a:off x="457200" y="25511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051560" y="2496312"/>
            <a:ext cx="2377440" cy="548640"/>
          </a:xfrm>
          <a:prstGeom prst="rect">
            <a:avLst/>
          </a:prstGeom>
          <a:noFill/>
          <a:ln/>
        </p:spPr>
        <p:txBody>
          <a:bodyPr wrap="square" lIns="0" tIns="0" rIns="0" bIns="0" rtlCol="0" anchor="ctr"/>
          <a:lstStyle/>
          <a:p>
            <a:pPr indent="0" marL="0">
              <a:buNone/>
            </a:pPr>
            <a:r>
              <a:rPr lang="en-US" sz="1350" b="1" dirty="0">
                <a:solidFill>
                  <a:srgbClr val="1B2433"/>
                </a:solidFill>
                <a:latin typeface="Calibri" pitchFamily="34" charset="0"/>
                <a:ea typeface="Calibri" pitchFamily="34" charset="-122"/>
                <a:cs typeface="Calibri" pitchFamily="34" charset="-120"/>
              </a:rPr>
              <a:t>Heartbeats + failover</a:t>
            </a:r>
            <a:endParaRPr lang="en-US" sz="1350" dirty="0"/>
          </a:p>
        </p:txBody>
      </p:sp>
      <p:sp>
        <p:nvSpPr>
          <p:cNvPr id="17" name="Text 15"/>
          <p:cNvSpPr txBox="1"/>
          <p:nvPr/>
        </p:nvSpPr>
        <p:spPr>
          <a:xfrm>
            <a:off x="3474720" y="2496312"/>
            <a:ext cx="3566160" cy="548640"/>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PING every 1 s; 3 misses = DOWN; backup promoted with a new epoch</a:t>
            </a:r>
            <a:endParaRPr lang="en-US" sz="1150" dirty="0"/>
          </a:p>
        </p:txBody>
      </p:sp>
      <p:sp>
        <p:nvSpPr>
          <p:cNvPr id="18" name="Text 16"/>
          <p:cNvSpPr txBox="1"/>
          <p:nvPr/>
        </p:nvSpPr>
        <p:spPr>
          <a:xfrm>
            <a:off x="7132320" y="2496312"/>
            <a:ext cx="1600200" cy="548640"/>
          </a:xfrm>
          <a:prstGeom prst="rect">
            <a:avLst/>
          </a:prstGeom>
          <a:noFill/>
          <a:ln/>
        </p:spPr>
        <p:txBody>
          <a:bodyPr wrap="square" lIns="0" tIns="0" rIns="0" bIns="0" rtlCol="0" anchor="ctr"/>
          <a:lstStyle/>
          <a:p>
            <a:pPr indent="0" marL="0">
              <a:buNone/>
            </a:pPr>
            <a:r>
              <a:rPr lang="en-US" sz="950" dirty="0">
                <a:solidFill>
                  <a:srgbClr val="E86A10"/>
                </a:solidFill>
                <a:latin typeface="Consolas" pitchFamily="34" charset="0"/>
                <a:ea typeface="Consolas" pitchFamily="34" charset="-122"/>
                <a:cs typeface="Consolas" pitchFamily="34" charset="-120"/>
              </a:rPr>
              <a:t>Gateway.reconcileRoles</a:t>
            </a:r>
            <a:endParaRPr lang="en-US" sz="950" dirty="0"/>
          </a:p>
        </p:txBody>
      </p:sp>
      <p:sp>
        <p:nvSpPr>
          <p:cNvPr id="19" name="Shape 17"/>
          <p:cNvSpPr/>
          <p:nvPr/>
        </p:nvSpPr>
        <p:spPr>
          <a:xfrm>
            <a:off x="457200" y="3191256"/>
            <a:ext cx="438912" cy="438912"/>
          </a:xfrm>
          <a:prstGeom prst="ellipse">
            <a:avLst/>
          </a:prstGeom>
          <a:solidFill>
            <a:srgbClr val="E86A10"/>
          </a:solidFill>
          <a:ln w="12700">
            <a:solidFill>
              <a:srgbClr val="E86A10"/>
            </a:solidFill>
            <a:prstDash val="solid"/>
          </a:ln>
        </p:spPr>
      </p:sp>
      <p:sp>
        <p:nvSpPr>
          <p:cNvPr id="20" name="Text 18"/>
          <p:cNvSpPr txBox="1"/>
          <p:nvPr/>
        </p:nvSpPr>
        <p:spPr>
          <a:xfrm>
            <a:off x="457200" y="31912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051560" y="3136392"/>
            <a:ext cx="2377440" cy="548640"/>
          </a:xfrm>
          <a:prstGeom prst="rect">
            <a:avLst/>
          </a:prstGeom>
          <a:noFill/>
          <a:ln/>
        </p:spPr>
        <p:txBody>
          <a:bodyPr wrap="square" lIns="0" tIns="0" rIns="0" bIns="0" rtlCol="0" anchor="ctr"/>
          <a:lstStyle/>
          <a:p>
            <a:pPr indent="0" marL="0">
              <a:buNone/>
            </a:pPr>
            <a:r>
              <a:rPr lang="en-US" sz="1350" b="1" dirty="0">
                <a:solidFill>
                  <a:srgbClr val="1B2433"/>
                </a:solidFill>
                <a:latin typeface="Calibri" pitchFamily="34" charset="0"/>
                <a:ea typeface="Calibri" pitchFamily="34" charset="-122"/>
                <a:cs typeface="Calibri" pitchFamily="34" charset="-120"/>
              </a:rPr>
              <a:t>Publish / subscribe</a:t>
            </a:r>
            <a:endParaRPr lang="en-US" sz="1350" dirty="0"/>
          </a:p>
        </p:txBody>
      </p:sp>
      <p:sp>
        <p:nvSpPr>
          <p:cNvPr id="22" name="Text 20"/>
          <p:cNvSpPr txBox="1"/>
          <p:nvPr/>
        </p:nvSpPr>
        <p:spPr>
          <a:xfrm>
            <a:off x="3474720" y="3136392"/>
            <a:ext cx="3566160" cy="548640"/>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Topics order:&lt;id&gt;, restaurant:&lt;id&gt;, riders; events pushed after each write</a:t>
            </a:r>
            <a:endParaRPr lang="en-US" sz="1150" dirty="0"/>
          </a:p>
        </p:txBody>
      </p:sp>
      <p:sp>
        <p:nvSpPr>
          <p:cNvPr id="23" name="Text 21"/>
          <p:cNvSpPr txBox="1"/>
          <p:nvPr/>
        </p:nvSpPr>
        <p:spPr>
          <a:xfrm>
            <a:off x="7132320" y="3136392"/>
            <a:ext cx="1600200" cy="548640"/>
          </a:xfrm>
          <a:prstGeom prst="rect">
            <a:avLst/>
          </a:prstGeom>
          <a:noFill/>
          <a:ln/>
        </p:spPr>
        <p:txBody>
          <a:bodyPr wrap="square" lIns="0" tIns="0" rIns="0" bIns="0" rtlCol="0" anchor="ctr"/>
          <a:lstStyle/>
          <a:p>
            <a:pPr indent="0" marL="0">
              <a:buNone/>
            </a:pPr>
            <a:r>
              <a:rPr lang="en-US" sz="950" dirty="0">
                <a:solidFill>
                  <a:srgbClr val="E86A10"/>
                </a:solidFill>
                <a:latin typeface="Consolas" pitchFamily="34" charset="0"/>
                <a:ea typeface="Consolas" pitchFamily="34" charset="-122"/>
                <a:cs typeface="Consolas" pitchFamily="34" charset="-120"/>
              </a:rPr>
              <a:t>PubSub</a:t>
            </a:r>
            <a:endParaRPr lang="en-US" sz="950" dirty="0"/>
          </a:p>
        </p:txBody>
      </p:sp>
      <p:sp>
        <p:nvSpPr>
          <p:cNvPr id="24" name="Shape 22"/>
          <p:cNvSpPr/>
          <p:nvPr/>
        </p:nvSpPr>
        <p:spPr>
          <a:xfrm>
            <a:off x="457200" y="3831336"/>
            <a:ext cx="438912" cy="438912"/>
          </a:xfrm>
          <a:prstGeom prst="ellipse">
            <a:avLst/>
          </a:prstGeom>
          <a:solidFill>
            <a:srgbClr val="E86A10"/>
          </a:solidFill>
          <a:ln w="12700">
            <a:solidFill>
              <a:srgbClr val="E86A10"/>
            </a:solidFill>
            <a:prstDash val="solid"/>
          </a:ln>
        </p:spPr>
      </p:sp>
      <p:sp>
        <p:nvSpPr>
          <p:cNvPr id="25" name="Text 23"/>
          <p:cNvSpPr txBox="1"/>
          <p:nvPr/>
        </p:nvSpPr>
        <p:spPr>
          <a:xfrm>
            <a:off x="457200" y="38313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051560" y="3776472"/>
            <a:ext cx="2377440" cy="548640"/>
          </a:xfrm>
          <a:prstGeom prst="rect">
            <a:avLst/>
          </a:prstGeom>
          <a:noFill/>
          <a:ln/>
        </p:spPr>
        <p:txBody>
          <a:bodyPr wrap="square" lIns="0" tIns="0" rIns="0" bIns="0" rtlCol="0" anchor="ctr"/>
          <a:lstStyle/>
          <a:p>
            <a:pPr indent="0" marL="0">
              <a:buNone/>
            </a:pPr>
            <a:r>
              <a:rPr lang="en-US" sz="1350" b="1" dirty="0">
                <a:solidFill>
                  <a:srgbClr val="1B2433"/>
                </a:solidFill>
                <a:latin typeface="Calibri" pitchFamily="34" charset="0"/>
                <a:ea typeface="Calibri" pitchFamily="34" charset="-122"/>
                <a:cs typeface="Calibri" pitchFamily="34" charset="-120"/>
              </a:rPr>
              <a:t>Ordered delivery</a:t>
            </a:r>
            <a:endParaRPr lang="en-US" sz="1350" dirty="0"/>
          </a:p>
        </p:txBody>
      </p:sp>
      <p:sp>
        <p:nvSpPr>
          <p:cNvPr id="27" name="Text 25"/>
          <p:cNvSpPr txBox="1"/>
          <p:nvPr/>
        </p:nvSpPr>
        <p:spPr>
          <a:xfrm>
            <a:off x="3474720" y="3776472"/>
            <a:ext cx="3566160" cy="548640"/>
          </a:xfrm>
          <a:prstGeom prst="rect">
            <a:avLst/>
          </a:prstGeom>
          <a:noFill/>
          <a:ln/>
        </p:spPr>
        <p:txBody>
          <a:bodyPr wrap="square" lIns="0" tIns="0" rIns="0" bIns="0" rtlCol="0" anchor="ctr"/>
          <a:lstStyle/>
          <a:p>
            <a:pPr indent="0" marL="0">
              <a:buNone/>
            </a:pPr>
            <a:r>
              <a:rPr lang="en-US" sz="1150" dirty="0">
                <a:solidFill>
                  <a:srgbClr val="5B6573"/>
                </a:solidFill>
                <a:latin typeface="Calibri" pitchFamily="34" charset="0"/>
                <a:ea typeface="Calibri" pitchFamily="34" charset="-122"/>
                <a:cs typeface="Calibri" pitchFamily="34" charset="-120"/>
              </a:rPr>
              <a:t>Per-order sequence numbers; client hold-back queue re-orders late events</a:t>
            </a:r>
            <a:endParaRPr lang="en-US" sz="1150" dirty="0"/>
          </a:p>
        </p:txBody>
      </p:sp>
      <p:sp>
        <p:nvSpPr>
          <p:cNvPr id="28" name="Text 26"/>
          <p:cNvSpPr txBox="1"/>
          <p:nvPr/>
        </p:nvSpPr>
        <p:spPr>
          <a:xfrm>
            <a:off x="7132320" y="3776472"/>
            <a:ext cx="1600200" cy="548640"/>
          </a:xfrm>
          <a:prstGeom prst="rect">
            <a:avLst/>
          </a:prstGeom>
          <a:noFill/>
          <a:ln/>
        </p:spPr>
        <p:txBody>
          <a:bodyPr wrap="square" lIns="0" tIns="0" rIns="0" bIns="0" rtlCol="0" anchor="ctr"/>
          <a:lstStyle/>
          <a:p>
            <a:pPr indent="0" marL="0">
              <a:buNone/>
            </a:pPr>
            <a:r>
              <a:rPr lang="en-US" sz="950" dirty="0">
                <a:solidFill>
                  <a:srgbClr val="E86A10"/>
                </a:solidFill>
                <a:latin typeface="Consolas" pitchFamily="34" charset="0"/>
                <a:ea typeface="Consolas" pitchFamily="34" charset="-122"/>
                <a:cs typeface="Consolas" pitchFamily="34" charset="-120"/>
              </a:rPr>
              <a:t>OrderedEventBuffer</a:t>
            </a:r>
            <a:endParaRPr lang="en-US" sz="950" dirty="0"/>
          </a:p>
        </p:txBody>
      </p:sp>
      <p:sp>
        <p:nvSpPr>
          <p:cNvPr id="29" name="Shape 27"/>
          <p:cNvSpPr/>
          <p:nvPr/>
        </p:nvSpPr>
        <p:spPr>
          <a:xfrm>
            <a:off x="457200" y="4462272"/>
            <a:ext cx="8229600" cy="329184"/>
          </a:xfrm>
          <a:prstGeom prst="roundRect">
            <a:avLst>
              <a:gd name="adj" fmla="val 22222"/>
            </a:avLst>
          </a:prstGeom>
          <a:solidFill>
            <a:srgbClr val="FDF1E7"/>
          </a:solidFill>
          <a:ln w="12700">
            <a:solidFill>
              <a:srgbClr val="FDF1E7"/>
            </a:solidFill>
            <a:prstDash val="solid"/>
          </a:ln>
        </p:spPr>
      </p:sp>
      <p:sp>
        <p:nvSpPr>
          <p:cNvPr id="30" name="Text 28"/>
          <p:cNvSpPr txBox="1"/>
          <p:nvPr/>
        </p:nvSpPr>
        <p:spPr>
          <a:xfrm>
            <a:off x="548640" y="4462272"/>
            <a:ext cx="8046720" cy="329184"/>
          </a:xfrm>
          <a:prstGeom prst="rect">
            <a:avLst/>
          </a:prstGeom>
          <a:noFill/>
          <a:ln/>
        </p:spPr>
        <p:txBody>
          <a:bodyPr wrap="square" lIns="0" tIns="0" rIns="0" bIns="0" rtlCol="0" anchor="ctr"/>
          <a:lstStyle/>
          <a:p>
            <a:pPr algn="ctr" indent="0" marL="0">
              <a:buNone/>
            </a:pPr>
            <a:r>
              <a:rPr lang="en-US" sz="1150" dirty="0">
                <a:solidFill>
                  <a:srgbClr val="1B2433"/>
                </a:solidFill>
                <a:latin typeface="Calibri" pitchFamily="34" charset="0"/>
                <a:ea typeface="Calibri" pitchFamily="34" charset="-122"/>
                <a:cs typeface="Calibri" pitchFamily="34" charset="-120"/>
              </a:rPr>
              <a:t>Also: fencing with epoch numbers  |  re-sync after restart  |  idempotent retries  |  order state machine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Failure demo: hard-kill the primary</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Real output from the scripted demo, step 5</a:t>
            </a:r>
            <a:endParaRPr lang="en-US" sz="1300" dirty="0"/>
          </a:p>
        </p:txBody>
      </p:sp>
      <p:pic>
        <p:nvPicPr>
          <p:cNvPr id="4" name="Image 0" descr="Demo output during failover">    </p:cNvPr>
          <p:cNvPicPr>
            <a:picLocks noChangeAspect="1"/>
          </p:cNvPicPr>
          <p:nvPr/>
        </p:nvPicPr>
        <p:blipFill>
          <a:blip r:embed="rId1"/>
          <a:stretch>
            <a:fillRect/>
          </a:stretch>
        </p:blipFill>
        <p:spPr>
          <a:xfrm>
            <a:off x="723788" y="1188720"/>
            <a:ext cx="4953223" cy="3520440"/>
          </a:xfrm>
          <a:prstGeom prst="rect">
            <a:avLst/>
          </a:prstGeom>
        </p:spPr>
      </p:pic>
      <p:sp>
        <p:nvSpPr>
          <p:cNvPr id="5" name="Text 2"/>
          <p:cNvSpPr txBox="1"/>
          <p:nvPr/>
        </p:nvSpPr>
        <p:spPr>
          <a:xfrm>
            <a:off x="6355080" y="1234440"/>
            <a:ext cx="237744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~3 s</a:t>
            </a:r>
            <a:endParaRPr lang="en-US" sz="3200" dirty="0"/>
          </a:p>
        </p:txBody>
      </p:sp>
      <p:sp>
        <p:nvSpPr>
          <p:cNvPr id="6" name="Text 3"/>
          <p:cNvSpPr txBox="1"/>
          <p:nvPr/>
        </p:nvSpPr>
        <p:spPr>
          <a:xfrm>
            <a:off x="6355080" y="1801368"/>
            <a:ext cx="23774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writes held while heartbeats detect the crash (3 misses)</a:t>
            </a:r>
            <a:endParaRPr lang="en-US" sz="1200" dirty="0"/>
          </a:p>
        </p:txBody>
      </p:sp>
      <p:sp>
        <p:nvSpPr>
          <p:cNvPr id="7" name="Text 4"/>
          <p:cNvSpPr txBox="1"/>
          <p:nvPr/>
        </p:nvSpPr>
        <p:spPr>
          <a:xfrm>
            <a:off x="6355080" y="2377440"/>
            <a:ext cx="2377440" cy="566928"/>
          </a:xfrm>
          <a:prstGeom prst="rect">
            <a:avLst/>
          </a:prstGeom>
          <a:noFill/>
          <a:ln/>
        </p:spPr>
        <p:txBody>
          <a:bodyPr wrap="square" lIns="0" tIns="0" rIns="0" bIns="0" rtlCol="0" anchor="ctr"/>
          <a:lstStyle/>
          <a:p>
            <a:pPr indent="0" marL="0">
              <a:buNone/>
            </a:pPr>
            <a:r>
              <a:rPr lang="en-US" sz="3200" b="1" dirty="0">
                <a:solidFill>
                  <a:srgbClr val="2E7D4F"/>
                </a:solidFill>
                <a:latin typeface="Cambria" pitchFamily="34" charset="0"/>
                <a:ea typeface="Cambria" pitchFamily="34" charset="-122"/>
                <a:cs typeface="Cambria" pitchFamily="34" charset="-120"/>
              </a:rPr>
              <a:t>0</a:t>
            </a:r>
            <a:endParaRPr lang="en-US" sz="3200" dirty="0"/>
          </a:p>
        </p:txBody>
      </p:sp>
      <p:sp>
        <p:nvSpPr>
          <p:cNvPr id="8" name="Text 5"/>
          <p:cNvSpPr txBox="1"/>
          <p:nvPr/>
        </p:nvSpPr>
        <p:spPr>
          <a:xfrm>
            <a:off x="6355080" y="2944368"/>
            <a:ext cx="23774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acknowledged orders lost</a:t>
            </a:r>
            <a:endParaRPr lang="en-US" sz="1200" dirty="0"/>
          </a:p>
        </p:txBody>
      </p:sp>
      <p:sp>
        <p:nvSpPr>
          <p:cNvPr id="9" name="Text 6"/>
          <p:cNvSpPr txBox="1"/>
          <p:nvPr/>
        </p:nvSpPr>
        <p:spPr>
          <a:xfrm>
            <a:off x="6355080" y="3520440"/>
            <a:ext cx="2377440" cy="566928"/>
          </a:xfrm>
          <a:prstGeom prst="rect">
            <a:avLst/>
          </a:prstGeom>
          <a:noFill/>
          <a:ln/>
        </p:spPr>
        <p:txBody>
          <a:bodyPr wrap="square" lIns="0" tIns="0" rIns="0" bIns="0" rtlCol="0" anchor="ctr"/>
          <a:lstStyle/>
          <a:p>
            <a:pPr indent="0" marL="0">
              <a:buNone/>
            </a:pPr>
            <a:r>
              <a:rPr lang="en-US" sz="3200" b="1" dirty="0">
                <a:solidFill>
                  <a:srgbClr val="2F5D8A"/>
                </a:solidFill>
                <a:latin typeface="Cambria" pitchFamily="34" charset="0"/>
                <a:ea typeface="Cambria" pitchFamily="34" charset="-122"/>
                <a:cs typeface="Cambria" pitchFamily="34" charset="-120"/>
              </a:rPr>
              <a:t>epoch 2</a:t>
            </a:r>
            <a:endParaRPr lang="en-US" sz="3200" dirty="0"/>
          </a:p>
        </p:txBody>
      </p:sp>
      <p:sp>
        <p:nvSpPr>
          <p:cNvPr id="10" name="Text 7"/>
          <p:cNvSpPr txBox="1"/>
          <p:nvPr/>
        </p:nvSpPr>
        <p:spPr>
          <a:xfrm>
            <a:off x="6355080" y="4087368"/>
            <a:ext cx="23774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N2 promoted; N1 re-syncs 6 orders and rejoins as backup</a:t>
            </a:r>
            <a:endParaRPr lang="en-US" sz="1200" dirty="0"/>
          </a:p>
        </p:txBody>
      </p:sp>
      <p:sp>
        <p:nvSpPr>
          <p:cNvPr id="11" name="Text 8"/>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In every automated test run the held write waited 3.04-3.12 s. Full demo output: logs/demo-transcript.txt.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Testing and results</a:t>
            </a:r>
            <a:endParaRPr lang="en-US" sz="28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Everything below was run, not assumed</a:t>
            </a:r>
            <a:endParaRPr lang="en-US" sz="1300" dirty="0"/>
          </a:p>
        </p:txBody>
      </p:sp>
      <p:sp>
        <p:nvSpPr>
          <p:cNvPr id="4" name="Text 2"/>
          <p:cNvSpPr txBox="1"/>
          <p:nvPr/>
        </p:nvSpPr>
        <p:spPr>
          <a:xfrm>
            <a:off x="457200" y="1234440"/>
            <a:ext cx="1920240" cy="566928"/>
          </a:xfrm>
          <a:prstGeom prst="rect">
            <a:avLst/>
          </a:prstGeom>
          <a:noFill/>
          <a:ln/>
        </p:spPr>
        <p:txBody>
          <a:bodyPr wrap="square" lIns="0" tIns="0" rIns="0" bIns="0" rtlCol="0" anchor="ctr"/>
          <a:lstStyle/>
          <a:p>
            <a:pPr indent="0" marL="0">
              <a:buNone/>
            </a:pPr>
            <a:r>
              <a:rPr lang="en-US" sz="3200" b="1" dirty="0">
                <a:solidFill>
                  <a:srgbClr val="2E7D4F"/>
                </a:solidFill>
                <a:latin typeface="Cambria" pitchFamily="34" charset="0"/>
                <a:ea typeface="Cambria" pitchFamily="34" charset="-122"/>
                <a:cs typeface="Cambria" pitchFamily="34" charset="-120"/>
              </a:rPr>
              <a:t>14 / 14</a:t>
            </a:r>
            <a:endParaRPr lang="en-US" sz="3200" dirty="0"/>
          </a:p>
        </p:txBody>
      </p:sp>
      <p:sp>
        <p:nvSpPr>
          <p:cNvPr id="5" name="Text 3"/>
          <p:cNvSpPr txBox="1"/>
          <p:nvPr/>
        </p:nvSpPr>
        <p:spPr>
          <a:xfrm>
            <a:off x="457200" y="1801368"/>
            <a:ext cx="19202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automated tests pass</a:t>
            </a:r>
            <a:endParaRPr lang="en-US" sz="1200" dirty="0"/>
          </a:p>
        </p:txBody>
      </p:sp>
      <p:sp>
        <p:nvSpPr>
          <p:cNvPr id="6" name="Text 4"/>
          <p:cNvSpPr txBox="1"/>
          <p:nvPr/>
        </p:nvSpPr>
        <p:spPr>
          <a:xfrm>
            <a:off x="2423160" y="1234440"/>
            <a:ext cx="1920240" cy="566928"/>
          </a:xfrm>
          <a:prstGeom prst="rect">
            <a:avLst/>
          </a:prstGeom>
          <a:noFill/>
          <a:ln/>
        </p:spPr>
        <p:txBody>
          <a:bodyPr wrap="square" lIns="0" tIns="0" rIns="0" bIns="0" rtlCol="0" anchor="ctr"/>
          <a:lstStyle/>
          <a:p>
            <a:pPr indent="0" marL="0">
              <a:buNone/>
            </a:pPr>
            <a:r>
              <a:rPr lang="en-US" sz="3200" b="1" dirty="0">
                <a:solidFill>
                  <a:srgbClr val="2E7D4F"/>
                </a:solidFill>
                <a:latin typeface="Cambria" pitchFamily="34" charset="0"/>
                <a:ea typeface="Cambria" pitchFamily="34" charset="-122"/>
                <a:cs typeface="Cambria" pitchFamily="34" charset="-120"/>
              </a:rPr>
              <a:t>10 / 10</a:t>
            </a:r>
            <a:endParaRPr lang="en-US" sz="3200" dirty="0"/>
          </a:p>
        </p:txBody>
      </p:sp>
      <p:sp>
        <p:nvSpPr>
          <p:cNvPr id="7" name="Text 5"/>
          <p:cNvSpPr txBox="1"/>
          <p:nvPr/>
        </p:nvSpPr>
        <p:spPr>
          <a:xfrm>
            <a:off x="2423160" y="1801368"/>
            <a:ext cx="19202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demo checks pass</a:t>
            </a:r>
            <a:endParaRPr lang="en-US" sz="1200" dirty="0"/>
          </a:p>
        </p:txBody>
      </p:sp>
      <p:sp>
        <p:nvSpPr>
          <p:cNvPr id="8" name="Text 6"/>
          <p:cNvSpPr txBox="1"/>
          <p:nvPr/>
        </p:nvSpPr>
        <p:spPr>
          <a:xfrm>
            <a:off x="457200" y="2377440"/>
            <a:ext cx="192024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11</a:t>
            </a:r>
            <a:endParaRPr lang="en-US" sz="3200" dirty="0"/>
          </a:p>
        </p:txBody>
      </p:sp>
      <p:sp>
        <p:nvSpPr>
          <p:cNvPr id="9" name="Text 7"/>
          <p:cNvSpPr txBox="1"/>
          <p:nvPr/>
        </p:nvSpPr>
        <p:spPr>
          <a:xfrm>
            <a:off x="457200" y="2944368"/>
            <a:ext cx="19202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separate JVM processes in the demo</a:t>
            </a:r>
            <a:endParaRPr lang="en-US" sz="1200" dirty="0"/>
          </a:p>
        </p:txBody>
      </p:sp>
      <p:sp>
        <p:nvSpPr>
          <p:cNvPr id="10" name="Text 8"/>
          <p:cNvSpPr txBox="1"/>
          <p:nvPr/>
        </p:nvSpPr>
        <p:spPr>
          <a:xfrm>
            <a:off x="2423160" y="2377440"/>
            <a:ext cx="1920240" cy="566928"/>
          </a:xfrm>
          <a:prstGeom prst="rect">
            <a:avLst/>
          </a:prstGeom>
          <a:noFill/>
          <a:ln/>
        </p:spPr>
        <p:txBody>
          <a:bodyPr wrap="square" lIns="0" tIns="0" rIns="0" bIns="0" rtlCol="0" anchor="ctr"/>
          <a:lstStyle/>
          <a:p>
            <a:pPr indent="0" marL="0">
              <a:buNone/>
            </a:pPr>
            <a:r>
              <a:rPr lang="en-US" sz="3200" b="1" dirty="0">
                <a:solidFill>
                  <a:srgbClr val="E86A10"/>
                </a:solidFill>
                <a:latin typeface="Cambria" pitchFamily="34" charset="0"/>
                <a:ea typeface="Cambria" pitchFamily="34" charset="-122"/>
                <a:cs typeface="Cambria" pitchFamily="34" charset="-120"/>
              </a:rPr>
              <a:t>20</a:t>
            </a:r>
            <a:endParaRPr lang="en-US" sz="3200" dirty="0"/>
          </a:p>
        </p:txBody>
      </p:sp>
      <p:sp>
        <p:nvSpPr>
          <p:cNvPr id="11" name="Text 9"/>
          <p:cNvSpPr txBox="1"/>
          <p:nvPr/>
        </p:nvSpPr>
        <p:spPr>
          <a:xfrm>
            <a:off x="2423160" y="2944368"/>
            <a:ext cx="1920240" cy="45720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concurrent customers, 20 unique orders</a:t>
            </a:r>
            <a:endParaRPr lang="en-US" sz="1200" dirty="0"/>
          </a:p>
        </p:txBody>
      </p:sp>
      <p:sp>
        <p:nvSpPr>
          <p:cNvPr id="12" name="Shape 10"/>
          <p:cNvSpPr/>
          <p:nvPr/>
        </p:nvSpPr>
        <p:spPr>
          <a:xfrm>
            <a:off x="457200" y="3657600"/>
            <a:ext cx="3886200" cy="868680"/>
          </a:xfrm>
          <a:prstGeom prst="roundRect">
            <a:avLst>
              <a:gd name="adj" fmla="val 8421"/>
            </a:avLst>
          </a:prstGeom>
          <a:solidFill>
            <a:srgbClr val="FDF1E7"/>
          </a:solidFill>
          <a:ln w="12700">
            <a:solidFill>
              <a:srgbClr val="FDF1E7"/>
            </a:solidFill>
            <a:prstDash val="solid"/>
          </a:ln>
        </p:spPr>
      </p:sp>
      <p:sp>
        <p:nvSpPr>
          <p:cNvPr id="13" name="Text 11"/>
          <p:cNvSpPr txBox="1"/>
          <p:nvPr/>
        </p:nvSpPr>
        <p:spPr>
          <a:xfrm>
            <a:off x="594360" y="3703320"/>
            <a:ext cx="3657600" cy="777240"/>
          </a:xfrm>
          <a:prstGeom prst="rect">
            <a:avLst/>
          </a:prstGeom>
          <a:noFill/>
          <a:ln/>
        </p:spPr>
        <p:txBody>
          <a:bodyPr wrap="square" lIns="0" tIns="0" rIns="0" bIns="0" rtlCol="0" anchor="ctr"/>
          <a:lstStyle/>
          <a:p>
            <a:pPr indent="0" marL="0">
              <a:buNone/>
            </a:pPr>
            <a:r>
              <a:rPr lang="en-US" sz="1150" b="1" dirty="0">
                <a:solidFill>
                  <a:srgbClr val="E86A10"/>
                </a:solidFill>
                <a:latin typeface="Calibri" pitchFamily="34" charset="0"/>
                <a:ea typeface="Calibri" pitchFamily="34" charset="-122"/>
                <a:cs typeface="Calibri" pitchFamily="34" charset="-120"/>
              </a:rPr>
              <a:t>Bugs found by testing, then fixed</a:t>
            </a:r>
            <a:endParaRPr lang="en-US" sz="1150" dirty="0"/>
          </a:p>
          <a:p>
            <a:pPr indent="0" marL="0">
              <a:buNone/>
            </a:pPr>
            <a:r>
              <a:rPr lang="en-US" sz="1150" dirty="0">
                <a:solidFill>
                  <a:srgbClr val="1B2433"/>
                </a:solidFill>
                <a:latin typeface="Calibri" pitchFamily="34" charset="0"/>
                <a:ea typeface="Calibri" pitchFamily="34" charset="-122"/>
                <a:cs typeface="Calibri" pitchFamily="34" charset="-120"/>
              </a:rPr>
              <a:t>invisible byte-order mark broke the first piped command; retry keys were not scoped per customer</a:t>
            </a:r>
            <a:endParaRPr lang="en-US" sz="1150" dirty="0"/>
          </a:p>
        </p:txBody>
      </p:sp>
      <p:pic>
        <p:nvPicPr>
          <p:cNvPr id="14" name="Image 0" descr="Demo summary output">    </p:cNvPr>
          <p:cNvPicPr>
            <a:picLocks noChangeAspect="1"/>
          </p:cNvPicPr>
          <p:nvPr/>
        </p:nvPicPr>
        <p:blipFill>
          <a:blip r:embed="rId1"/>
          <a:stretch>
            <a:fillRect/>
          </a:stretch>
        </p:blipFill>
        <p:spPr>
          <a:xfrm>
            <a:off x="4572000" y="1902436"/>
            <a:ext cx="4206240" cy="2093009"/>
          </a:xfrm>
          <a:prstGeom prst="rect">
            <a:avLst/>
          </a:prstGeom>
        </p:spPr>
      </p:pic>
      <p:sp>
        <p:nvSpPr>
          <p:cNvPr id="15" name="Text 12"/>
          <p:cNvSpPr txBox="1"/>
          <p:nvPr/>
        </p:nvSpPr>
        <p:spPr>
          <a:xfrm>
            <a:off x="457200" y="4773168"/>
            <a:ext cx="82296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On the final code: test suite passed 4 of 4 runs, full demo 3 of 3 runs (Windows 11, JDK 25.0.2).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433"/>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548640" y="1280160"/>
            <a:ext cx="3840480" cy="365760"/>
          </a:xfrm>
          <a:prstGeom prst="rect">
            <a:avLst/>
          </a:prstGeom>
          <a:noFill/>
          <a:ln/>
        </p:spPr>
        <p:txBody>
          <a:bodyPr wrap="square" lIns="0" tIns="0" rIns="0" bIns="0" rtlCol="0" anchor="ctr"/>
          <a:lstStyle/>
          <a:p>
            <a:pPr indent="0" marL="0">
              <a:buNone/>
            </a:pPr>
            <a:r>
              <a:rPr lang="en-US" sz="1600" b="1" dirty="0">
                <a:solidFill>
                  <a:srgbClr val="E86A10"/>
                </a:solidFill>
                <a:latin typeface="Calibri" pitchFamily="34" charset="0"/>
                <a:ea typeface="Calibri" pitchFamily="34" charset="-122"/>
                <a:cs typeface="Calibri" pitchFamily="34" charset="-120"/>
              </a:rPr>
              <a:t>What I learned</a:t>
            </a:r>
            <a:endParaRPr lang="en-US" sz="1600" dirty="0"/>
          </a:p>
        </p:txBody>
      </p:sp>
      <p:sp>
        <p:nvSpPr>
          <p:cNvPr id="4" name="Text 2"/>
          <p:cNvSpPr txBox="1"/>
          <p:nvPr/>
        </p:nvSpPr>
        <p:spPr>
          <a:xfrm>
            <a:off x="548640" y="173736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Swiggy scales by splitting work: services, partitions, zones</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Reliability comes from redundancy plus isolation, not from any one algorithm</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Replicating before acknowledging makes a crash cost seconds, not data</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Sequence numbers are enough to order one order's events</a:t>
            </a:r>
            <a:endParaRPr lang="en-US" sz="1350" dirty="0"/>
          </a:p>
        </p:txBody>
      </p:sp>
      <p:sp>
        <p:nvSpPr>
          <p:cNvPr id="5" name="Text 3"/>
          <p:cNvSpPr txBox="1"/>
          <p:nvPr/>
        </p:nvSpPr>
        <p:spPr>
          <a:xfrm>
            <a:off x="4754880" y="1280160"/>
            <a:ext cx="3840480" cy="365760"/>
          </a:xfrm>
          <a:prstGeom prst="rect">
            <a:avLst/>
          </a:prstGeom>
          <a:noFill/>
          <a:ln/>
        </p:spPr>
        <p:txBody>
          <a:bodyPr wrap="square" lIns="0" tIns="0" rIns="0" bIns="0" rtlCol="0" anchor="ctr"/>
          <a:lstStyle/>
          <a:p>
            <a:pPr indent="0" marL="0">
              <a:buNone/>
            </a:pPr>
            <a:r>
              <a:rPr lang="en-US" sz="1600" b="1" dirty="0">
                <a:solidFill>
                  <a:srgbClr val="E86A10"/>
                </a:solidFill>
                <a:latin typeface="Calibri" pitchFamily="34" charset="0"/>
                <a:ea typeface="Calibri" pitchFamily="34" charset="-122"/>
                <a:cs typeface="Calibri" pitchFamily="34" charset="-120"/>
              </a:rPr>
              <a:t>Limits and next steps</a:t>
            </a:r>
            <a:endParaRPr lang="en-US" sz="1600" dirty="0"/>
          </a:p>
        </p:txBody>
      </p:sp>
      <p:sp>
        <p:nvSpPr>
          <p:cNvPr id="6" name="Text 4"/>
          <p:cNvSpPr txBox="1"/>
          <p:nvPr/>
        </p:nvSpPr>
        <p:spPr>
          <a:xfrm>
            <a:off x="4754880" y="173736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Gateway is a single point of failure: replicate it and elect a leader with Raft</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Data is in memory only: add a write-ahead log</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One backup: move to 3 replicas with quorum writes</a:t>
            </a:r>
            <a:endParaRPr lang="en-US" sz="1350" dirty="0"/>
          </a:p>
          <a:p>
            <a:pPr marL="342900" indent="-342900">
              <a:spcAft>
                <a:spcPts val="800"/>
              </a:spcAft>
              <a:buSzPct val="100000"/>
              <a:buChar char="•"/>
            </a:pPr>
            <a:r>
              <a:rPr lang="en-US" sz="1350" dirty="0">
                <a:solidFill>
                  <a:srgbClr val="E3E8EF"/>
                </a:solidFill>
                <a:latin typeface="Calibri" pitchFamily="34" charset="0"/>
                <a:ea typeface="Calibri" pitchFamily="34" charset="-122"/>
                <a:cs typeface="Calibri" pitchFamily="34" charset="-120"/>
              </a:rPr>
              <a:t>Partition orders by city, like Swiggy's logistic zones</a:t>
            </a:r>
            <a:endParaRPr lang="en-US" sz="1350" dirty="0"/>
          </a:p>
        </p:txBody>
      </p:sp>
      <p:sp>
        <p:nvSpPr>
          <p:cNvPr id="7" name="Text 5"/>
          <p:cNvSpPr txBox="1"/>
          <p:nvPr/>
        </p:nvSpPr>
        <p:spPr>
          <a:xfrm>
            <a:off x="548640" y="4343400"/>
            <a:ext cx="8046720" cy="457200"/>
          </a:xfrm>
          <a:prstGeom prst="rect">
            <a:avLst/>
          </a:prstGeom>
          <a:noFill/>
          <a:ln/>
        </p:spPr>
        <p:txBody>
          <a:bodyPr wrap="square" lIns="0" tIns="0" rIns="0" bIns="0" rtlCol="0" anchor="ctr"/>
          <a:lstStyle/>
          <a:p>
            <a:pPr indent="0" marL="0">
              <a:buNone/>
            </a:pPr>
            <a:r>
              <a:rPr lang="en-US" sz="2000" i="1" dirty="0">
                <a:solidFill>
                  <a:srgbClr val="9AA5B4"/>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MiniSwiggy - Distributed Computing Mini Project</dc:title>
  <dc:subject>PptxGenJS Presentation</dc:subject>
  <dc:creator>23MCCE11</dc:creator>
  <cp:lastModifiedBy>23MCCE11</cp:lastModifiedBy>
  <cp:revision>1</cp:revision>
  <dcterms:created xsi:type="dcterms:W3CDTF">2026-09-29T06:30:35Z</dcterms:created>
  <dcterms:modified xsi:type="dcterms:W3CDTF">2026-09-29T06:30:35Z</dcterms:modified>
</cp:coreProperties>
</file>